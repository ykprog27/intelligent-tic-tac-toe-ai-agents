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75" r:id="rId9"/>
    <p:sldId id="277" r:id="rId10"/>
    <p:sldId id="264" r:id="rId11"/>
    <p:sldId id="268" r:id="rId12"/>
    <p:sldId id="276" r:id="rId13"/>
    <p:sldId id="278" r:id="rId14"/>
    <p:sldId id="279" r:id="rId15"/>
    <p:sldId id="266" r:id="rId16"/>
    <p:sldId id="273" r:id="rId17"/>
    <p:sldId id="261" r:id="rId18"/>
  </p:sldIdLst>
  <p:sldSz cx="18288000" cy="10287000"/>
  <p:notesSz cx="6858000" cy="9144000"/>
  <p:embeddedFontLst>
    <p:embeddedFont>
      <p:font typeface="Aptos Slab Black" panose="020B0004020202020204" pitchFamily="34" charset="0"/>
      <p:bold r:id="rId20"/>
      <p:boldItalic r:id="rId21"/>
    </p:embeddedFont>
    <p:embeddedFont>
      <p:font typeface="Black Ops One" panose="020B0604020202020204" charset="0"/>
      <p:regular r:id="rId22"/>
    </p:embeddedFont>
    <p:embeddedFont>
      <p:font typeface="Cambria Math" panose="02040503050406030204" pitchFamily="18" charset="0"/>
      <p:regular r:id="rId23"/>
    </p:embeddedFont>
    <p:embeddedFont>
      <p:font typeface="Slabo 27px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008A"/>
    <a:srgbClr val="2E1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5" autoAdjust="0"/>
    <p:restoredTop sz="94660"/>
  </p:normalViewPr>
  <p:slideViewPr>
    <p:cSldViewPr snapToGrid="0">
      <p:cViewPr varScale="1">
        <p:scale>
          <a:sx n="54" d="100"/>
          <a:sy n="54" d="100"/>
        </p:scale>
        <p:origin x="61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ar-S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6D7C8646-CE70-1473-C34D-6AA039ED1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>
            <a:extLst>
              <a:ext uri="{FF2B5EF4-FFF2-40B4-BE49-F238E27FC236}">
                <a16:creationId xmlns:a16="http://schemas.microsoft.com/office/drawing/2014/main" id="{91F3E84C-FB34-F75D-C98C-D9049257F5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:notes">
            <a:extLst>
              <a:ext uri="{FF2B5EF4-FFF2-40B4-BE49-F238E27FC236}">
                <a16:creationId xmlns:a16="http://schemas.microsoft.com/office/drawing/2014/main" id="{B3F60AD5-9AE9-2E74-1F97-E4B843996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46752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F6E14F7C-AFF8-E4ED-DDC1-E20BCF79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>
            <a:extLst>
              <a:ext uri="{FF2B5EF4-FFF2-40B4-BE49-F238E27FC236}">
                <a16:creationId xmlns:a16="http://schemas.microsoft.com/office/drawing/2014/main" id="{CEB82799-B2BA-7945-3C62-517A1DD19F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:notes">
            <a:extLst>
              <a:ext uri="{FF2B5EF4-FFF2-40B4-BE49-F238E27FC236}">
                <a16:creationId xmlns:a16="http://schemas.microsoft.com/office/drawing/2014/main" id="{0A5351F3-D34C-57A0-E00B-1F0399B4F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56646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E4EE81F1-4FC5-9C59-D850-25C01ABC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3:notes">
            <a:extLst>
              <a:ext uri="{FF2B5EF4-FFF2-40B4-BE49-F238E27FC236}">
                <a16:creationId xmlns:a16="http://schemas.microsoft.com/office/drawing/2014/main" id="{51F57CEE-2B2D-F109-F816-EE806052D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3:notes">
            <a:extLst>
              <a:ext uri="{FF2B5EF4-FFF2-40B4-BE49-F238E27FC236}">
                <a16:creationId xmlns:a16="http://schemas.microsoft.com/office/drawing/2014/main" id="{E5E3E7BE-A609-2D0A-B04A-18C911E22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25349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E5870F99-7F53-C813-CBFB-3CBD443E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3:notes">
            <a:extLst>
              <a:ext uri="{FF2B5EF4-FFF2-40B4-BE49-F238E27FC236}">
                <a16:creationId xmlns:a16="http://schemas.microsoft.com/office/drawing/2014/main" id="{B8F9DAEA-D76C-D8F2-C13D-07C9FC0F1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3:notes">
            <a:extLst>
              <a:ext uri="{FF2B5EF4-FFF2-40B4-BE49-F238E27FC236}">
                <a16:creationId xmlns:a16="http://schemas.microsoft.com/office/drawing/2014/main" id="{E27B62C3-AF5E-B3DF-1DA0-085C65125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49759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B1D36287-4781-5FAD-65F1-59C67C6F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3:notes">
            <a:extLst>
              <a:ext uri="{FF2B5EF4-FFF2-40B4-BE49-F238E27FC236}">
                <a16:creationId xmlns:a16="http://schemas.microsoft.com/office/drawing/2014/main" id="{35BF1803-0FE5-96D3-74FA-87BFF8A598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3:notes">
            <a:extLst>
              <a:ext uri="{FF2B5EF4-FFF2-40B4-BE49-F238E27FC236}">
                <a16:creationId xmlns:a16="http://schemas.microsoft.com/office/drawing/2014/main" id="{B134EA20-2F30-5E54-DCA7-4C2816352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82623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6" name="Google Shape;5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9AD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378405" y="138834"/>
            <a:ext cx="17531189" cy="9828506"/>
            <a:chOff x="0" y="-47625"/>
            <a:chExt cx="4617268" cy="2588578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617268" cy="2540953"/>
            </a:xfrm>
            <a:custGeom>
              <a:avLst/>
              <a:gdLst/>
              <a:ahLst/>
              <a:cxnLst/>
              <a:rect l="l" t="t" r="r" b="b"/>
              <a:pathLst>
                <a:path w="4617268" h="2540953" extrusionOk="0">
                  <a:moveTo>
                    <a:pt x="22522" y="0"/>
                  </a:moveTo>
                  <a:lnTo>
                    <a:pt x="4594746" y="0"/>
                  </a:lnTo>
                  <a:cubicBezTo>
                    <a:pt x="4607184" y="0"/>
                    <a:pt x="4617268" y="10083"/>
                    <a:pt x="4617268" y="22522"/>
                  </a:cubicBezTo>
                  <a:lnTo>
                    <a:pt x="4617268" y="2518431"/>
                  </a:lnTo>
                  <a:cubicBezTo>
                    <a:pt x="4617268" y="2530869"/>
                    <a:pt x="4607184" y="2540953"/>
                    <a:pt x="4594746" y="2540953"/>
                  </a:cubicBezTo>
                  <a:lnTo>
                    <a:pt x="22522" y="2540953"/>
                  </a:lnTo>
                  <a:cubicBezTo>
                    <a:pt x="10083" y="2540953"/>
                    <a:pt x="0" y="2530869"/>
                    <a:pt x="0" y="2518431"/>
                  </a:cubicBezTo>
                  <a:lnTo>
                    <a:pt x="0" y="22522"/>
                  </a:lnTo>
                  <a:cubicBezTo>
                    <a:pt x="0" y="10083"/>
                    <a:pt x="10083" y="0"/>
                    <a:pt x="22522" y="0"/>
                  </a:cubicBezTo>
                  <a:close/>
                </a:path>
              </a:pathLst>
            </a:custGeom>
            <a:solidFill>
              <a:srgbClr val="2E1B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4617268" cy="25885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 rot="-10721354">
            <a:off x="10047331" y="3211678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3"/>
                </a:lnTo>
                <a:lnTo>
                  <a:pt x="0" y="10429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88" name="Google Shape;88;p13"/>
          <p:cNvSpPr/>
          <p:nvPr/>
        </p:nvSpPr>
        <p:spPr>
          <a:xfrm rot="-1174872">
            <a:off x="15022092" y="5842152"/>
            <a:ext cx="1702833" cy="1832795"/>
          </a:xfrm>
          <a:custGeom>
            <a:avLst/>
            <a:gdLst/>
            <a:ahLst/>
            <a:cxnLst/>
            <a:rect l="l" t="t" r="r" b="b"/>
            <a:pathLst>
              <a:path w="1702833" h="1832795" extrusionOk="0">
                <a:moveTo>
                  <a:pt x="0" y="0"/>
                </a:moveTo>
                <a:lnTo>
                  <a:pt x="1702833" y="0"/>
                </a:lnTo>
                <a:lnTo>
                  <a:pt x="1702833" y="1832795"/>
                </a:lnTo>
                <a:lnTo>
                  <a:pt x="0" y="1832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89" name="Google Shape;89;p13"/>
          <p:cNvSpPr txBox="1"/>
          <p:nvPr/>
        </p:nvSpPr>
        <p:spPr>
          <a:xfrm>
            <a:off x="2285740" y="3344805"/>
            <a:ext cx="13742633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1"/>
              </a:lnSpc>
            </a:pPr>
            <a:r>
              <a:rPr lang="en-US" sz="8000" dirty="0">
                <a:solidFill>
                  <a:srgbClr val="EC008A"/>
                </a:solidFill>
                <a:latin typeface="Aptos Slab Black" panose="020B0004020202020204" pitchFamily="34" charset="0"/>
              </a:rPr>
              <a:t>AI Agents for Strategic Board Games</a:t>
            </a:r>
            <a:endParaRPr lang="en-US" sz="8000" dirty="0">
              <a:solidFill>
                <a:srgbClr val="EC008A"/>
              </a:solidFill>
              <a:latin typeface="Aptos Slab Black" panose="020B0004020202020204" pitchFamily="34" charset="0"/>
              <a:ea typeface="Black Ops One"/>
              <a:cs typeface="Black Ops One"/>
              <a:sym typeface="Black Ops One"/>
            </a:endParaRPr>
          </a:p>
        </p:txBody>
      </p:sp>
      <p:sp>
        <p:nvSpPr>
          <p:cNvPr id="90" name="Google Shape;90;p13"/>
          <p:cNvSpPr/>
          <p:nvPr/>
        </p:nvSpPr>
        <p:spPr>
          <a:xfrm rot="7845160">
            <a:off x="11823044" y="6205480"/>
            <a:ext cx="1031726" cy="1106139"/>
          </a:xfrm>
          <a:custGeom>
            <a:avLst/>
            <a:gdLst/>
            <a:ahLst/>
            <a:cxnLst/>
            <a:rect l="l" t="t" r="r" b="b"/>
            <a:pathLst>
              <a:path w="1031726" h="1106139" extrusionOk="0">
                <a:moveTo>
                  <a:pt x="0" y="0"/>
                </a:moveTo>
                <a:lnTo>
                  <a:pt x="1031726" y="0"/>
                </a:lnTo>
                <a:lnTo>
                  <a:pt x="1031726" y="1106139"/>
                </a:lnTo>
                <a:lnTo>
                  <a:pt x="0" y="1106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91" name="Google Shape;91;p13"/>
          <p:cNvGrpSpPr/>
          <p:nvPr/>
        </p:nvGrpSpPr>
        <p:grpSpPr>
          <a:xfrm>
            <a:off x="13989728" y="7951167"/>
            <a:ext cx="2993081" cy="1447384"/>
            <a:chOff x="0" y="-374137"/>
            <a:chExt cx="3990774" cy="1929845"/>
          </a:xfrm>
        </p:grpSpPr>
        <p:grpSp>
          <p:nvGrpSpPr>
            <p:cNvPr id="92" name="Google Shape;92;p13"/>
            <p:cNvGrpSpPr/>
            <p:nvPr/>
          </p:nvGrpSpPr>
          <p:grpSpPr>
            <a:xfrm>
              <a:off x="0" y="-154747"/>
              <a:ext cx="3990774" cy="1710455"/>
              <a:chOff x="0" y="-95250"/>
              <a:chExt cx="1015997" cy="435458"/>
            </a:xfrm>
          </p:grpSpPr>
          <p:sp>
            <p:nvSpPr>
              <p:cNvPr id="93" name="Google Shape;93;p13"/>
              <p:cNvSpPr/>
              <p:nvPr/>
            </p:nvSpPr>
            <p:spPr>
              <a:xfrm>
                <a:off x="0" y="0"/>
                <a:ext cx="1015997" cy="340208"/>
              </a:xfrm>
              <a:custGeom>
                <a:avLst/>
                <a:gdLst/>
                <a:ahLst/>
                <a:cxnLst/>
                <a:rect l="l" t="t" r="r" b="b"/>
                <a:pathLst>
                  <a:path w="1015997" h="340208" extrusionOk="0">
                    <a:moveTo>
                      <a:pt x="812797" y="0"/>
                    </a:moveTo>
                    <a:cubicBezTo>
                      <a:pt x="925021" y="0"/>
                      <a:pt x="1015997" y="76158"/>
                      <a:pt x="1015997" y="170104"/>
                    </a:cubicBezTo>
                    <a:cubicBezTo>
                      <a:pt x="1015997" y="264050"/>
                      <a:pt x="925021" y="340208"/>
                      <a:pt x="812797" y="340208"/>
                    </a:cubicBezTo>
                    <a:lnTo>
                      <a:pt x="203200" y="340208"/>
                    </a:lnTo>
                    <a:cubicBezTo>
                      <a:pt x="90976" y="340208"/>
                      <a:pt x="0" y="264050"/>
                      <a:pt x="0" y="170104"/>
                    </a:cubicBezTo>
                    <a:cubicBezTo>
                      <a:pt x="0" y="7615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C00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0" y="-95250"/>
                <a:ext cx="1015997" cy="435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8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13"/>
            <p:cNvGrpSpPr/>
            <p:nvPr/>
          </p:nvGrpSpPr>
          <p:grpSpPr>
            <a:xfrm>
              <a:off x="0" y="-374137"/>
              <a:ext cx="3990774" cy="1710455"/>
              <a:chOff x="0" y="-95250"/>
              <a:chExt cx="1015997" cy="435458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0" y="0"/>
                <a:ext cx="1015997" cy="340208"/>
              </a:xfrm>
              <a:custGeom>
                <a:avLst/>
                <a:gdLst/>
                <a:ahLst/>
                <a:cxnLst/>
                <a:rect l="l" t="t" r="r" b="b"/>
                <a:pathLst>
                  <a:path w="1015997" h="340208" extrusionOk="0">
                    <a:moveTo>
                      <a:pt x="812797" y="0"/>
                    </a:moveTo>
                    <a:cubicBezTo>
                      <a:pt x="925021" y="0"/>
                      <a:pt x="1015997" y="76158"/>
                      <a:pt x="1015997" y="170104"/>
                    </a:cubicBezTo>
                    <a:cubicBezTo>
                      <a:pt x="1015997" y="264050"/>
                      <a:pt x="925021" y="340208"/>
                      <a:pt x="812797" y="340208"/>
                    </a:cubicBezTo>
                    <a:lnTo>
                      <a:pt x="203200" y="340208"/>
                    </a:lnTo>
                    <a:cubicBezTo>
                      <a:pt x="90976" y="340208"/>
                      <a:pt x="0" y="264050"/>
                      <a:pt x="0" y="170104"/>
                    </a:cubicBezTo>
                    <a:cubicBezTo>
                      <a:pt x="0" y="7615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C008A"/>
              </a:solidFill>
              <a:ln w="47625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3"/>
              <p:cNvSpPr txBox="1"/>
              <p:nvPr/>
            </p:nvSpPr>
            <p:spPr>
              <a:xfrm>
                <a:off x="0" y="-95250"/>
                <a:ext cx="1015997" cy="435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 dirty="0"/>
              </a:p>
            </p:txBody>
          </p:sp>
        </p:grpSp>
      </p:grpSp>
      <p:sp>
        <p:nvSpPr>
          <p:cNvPr id="99" name="Google Shape;99;p13"/>
          <p:cNvSpPr txBox="1"/>
          <p:nvPr/>
        </p:nvSpPr>
        <p:spPr>
          <a:xfrm>
            <a:off x="5752645" y="4247145"/>
            <a:ext cx="60309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13"/>
          <p:cNvSpPr/>
          <p:nvPr/>
        </p:nvSpPr>
        <p:spPr>
          <a:xfrm rot="104982">
            <a:off x="-4557250" y="-1338175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01" name="Google Shape;101;p13"/>
          <p:cNvSpPr/>
          <p:nvPr/>
        </p:nvSpPr>
        <p:spPr>
          <a:xfrm rot="-2545084">
            <a:off x="3881699" y="1317911"/>
            <a:ext cx="1468452" cy="1574364"/>
          </a:xfrm>
          <a:custGeom>
            <a:avLst/>
            <a:gdLst/>
            <a:ahLst/>
            <a:cxnLst/>
            <a:rect l="l" t="t" r="r" b="b"/>
            <a:pathLst>
              <a:path w="1468452" h="1574364" extrusionOk="0">
                <a:moveTo>
                  <a:pt x="0" y="0"/>
                </a:moveTo>
                <a:lnTo>
                  <a:pt x="1468453" y="0"/>
                </a:lnTo>
                <a:lnTo>
                  <a:pt x="1468453" y="1574364"/>
                </a:lnTo>
                <a:lnTo>
                  <a:pt x="0" y="1574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02" name="Google Shape;102;p13"/>
          <p:cNvSpPr/>
          <p:nvPr/>
        </p:nvSpPr>
        <p:spPr>
          <a:xfrm rot="-1227504">
            <a:off x="14084571" y="810671"/>
            <a:ext cx="1959738" cy="2847896"/>
          </a:xfrm>
          <a:custGeom>
            <a:avLst/>
            <a:gdLst/>
            <a:ahLst/>
            <a:cxnLst/>
            <a:rect l="l" t="t" r="r" b="b"/>
            <a:pathLst>
              <a:path w="2541706" h="3910317" extrusionOk="0">
                <a:moveTo>
                  <a:pt x="0" y="0"/>
                </a:moveTo>
                <a:lnTo>
                  <a:pt x="2541706" y="0"/>
                </a:lnTo>
                <a:lnTo>
                  <a:pt x="2541706" y="3910317"/>
                </a:lnTo>
                <a:lnTo>
                  <a:pt x="0" y="3910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03" name="Google Shape;103;p13"/>
          <p:cNvSpPr/>
          <p:nvPr/>
        </p:nvSpPr>
        <p:spPr>
          <a:xfrm rot="2700000">
            <a:off x="2205384" y="6169034"/>
            <a:ext cx="3207989" cy="2682681"/>
          </a:xfrm>
          <a:custGeom>
            <a:avLst/>
            <a:gdLst/>
            <a:ahLst/>
            <a:cxnLst/>
            <a:rect l="l" t="t" r="r" b="b"/>
            <a:pathLst>
              <a:path w="3207989" h="2682681" extrusionOk="0">
                <a:moveTo>
                  <a:pt x="0" y="0"/>
                </a:moveTo>
                <a:lnTo>
                  <a:pt x="3207988" y="0"/>
                </a:lnTo>
                <a:lnTo>
                  <a:pt x="3207988" y="2682681"/>
                </a:lnTo>
                <a:lnTo>
                  <a:pt x="0" y="2682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7848523" y="8620672"/>
            <a:ext cx="388978" cy="388978"/>
            <a:chOff x="0" y="0"/>
            <a:chExt cx="812800" cy="812800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15730273" y="1028700"/>
            <a:ext cx="1076393" cy="1076393"/>
            <a:chOff x="0" y="0"/>
            <a:chExt cx="812800" cy="812800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3"/>
          <p:cNvGrpSpPr/>
          <p:nvPr/>
        </p:nvGrpSpPr>
        <p:grpSpPr>
          <a:xfrm>
            <a:off x="17064811" y="7315885"/>
            <a:ext cx="388978" cy="388978"/>
            <a:chOff x="0" y="0"/>
            <a:chExt cx="812800" cy="812800"/>
          </a:xfrm>
        </p:grpSpPr>
        <p:sp>
          <p:nvSpPr>
            <p:cNvPr id="111" name="Google Shape;111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21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3153928" y="514149"/>
            <a:ext cx="388978" cy="388978"/>
            <a:chOff x="0" y="0"/>
            <a:chExt cx="812800" cy="812800"/>
          </a:xfrm>
        </p:grpSpPr>
        <p:sp>
          <p:nvSpPr>
            <p:cNvPr id="114" name="Google Shape;114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3"/>
          <p:cNvGrpSpPr/>
          <p:nvPr/>
        </p:nvGrpSpPr>
        <p:grpSpPr>
          <a:xfrm>
            <a:off x="834211" y="3681918"/>
            <a:ext cx="388978" cy="388978"/>
            <a:chOff x="0" y="0"/>
            <a:chExt cx="812800" cy="812800"/>
          </a:xfrm>
        </p:grpSpPr>
        <p:sp>
          <p:nvSpPr>
            <p:cNvPr id="117" name="Google Shape;117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21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3"/>
          <p:cNvSpPr/>
          <p:nvPr/>
        </p:nvSpPr>
        <p:spPr>
          <a:xfrm rot="861713">
            <a:off x="1039042" y="1384076"/>
            <a:ext cx="1375339" cy="1442033"/>
          </a:xfrm>
          <a:custGeom>
            <a:avLst/>
            <a:gdLst/>
            <a:ahLst/>
            <a:cxnLst/>
            <a:rect l="l" t="t" r="r" b="b"/>
            <a:pathLst>
              <a:path w="1375339" h="1442033" extrusionOk="0">
                <a:moveTo>
                  <a:pt x="0" y="0"/>
                </a:moveTo>
                <a:lnTo>
                  <a:pt x="1375339" y="0"/>
                </a:lnTo>
                <a:lnTo>
                  <a:pt x="1375339" y="1442033"/>
                </a:lnTo>
                <a:lnTo>
                  <a:pt x="0" y="1442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 rot="4231536">
            <a:off x="-4509677" y="-4681153"/>
            <a:ext cx="9662106" cy="10403344"/>
          </a:xfrm>
          <a:custGeom>
            <a:avLst/>
            <a:gdLst/>
            <a:ahLst/>
            <a:cxnLst/>
            <a:rect l="l" t="t" r="r" b="b"/>
            <a:pathLst>
              <a:path w="9662106" h="10403344" extrusionOk="0">
                <a:moveTo>
                  <a:pt x="0" y="0"/>
                </a:moveTo>
                <a:lnTo>
                  <a:pt x="9662106" y="0"/>
                </a:lnTo>
                <a:lnTo>
                  <a:pt x="9662106" y="10403344"/>
                </a:lnTo>
                <a:lnTo>
                  <a:pt x="0" y="10403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25" name="Google Shape;125;p14"/>
          <p:cNvSpPr txBox="1"/>
          <p:nvPr/>
        </p:nvSpPr>
        <p:spPr>
          <a:xfrm>
            <a:off x="5316615" y="1232910"/>
            <a:ext cx="1892652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Introduction</a:t>
            </a:r>
            <a:endParaRPr lang="en-US" dirty="0"/>
          </a:p>
        </p:txBody>
      </p:sp>
      <p:sp>
        <p:nvSpPr>
          <p:cNvPr id="126" name="Google Shape;126;p14"/>
          <p:cNvSpPr/>
          <p:nvPr/>
        </p:nvSpPr>
        <p:spPr>
          <a:xfrm rot="-3600307">
            <a:off x="12428247" y="4765522"/>
            <a:ext cx="9662106" cy="10403344"/>
          </a:xfrm>
          <a:custGeom>
            <a:avLst/>
            <a:gdLst/>
            <a:ahLst/>
            <a:cxnLst/>
            <a:rect l="l" t="t" r="r" b="b"/>
            <a:pathLst>
              <a:path w="9662106" h="10403344" extrusionOk="0">
                <a:moveTo>
                  <a:pt x="0" y="0"/>
                </a:moveTo>
                <a:lnTo>
                  <a:pt x="9662106" y="0"/>
                </a:lnTo>
                <a:lnTo>
                  <a:pt x="9662106" y="10403344"/>
                </a:lnTo>
                <a:lnTo>
                  <a:pt x="0" y="10403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29" name="Google Shape;129;p14"/>
          <p:cNvSpPr txBox="1"/>
          <p:nvPr/>
        </p:nvSpPr>
        <p:spPr>
          <a:xfrm>
            <a:off x="3292646" y="4008586"/>
            <a:ext cx="10920504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  <a:sym typeface="Slabo 27px"/>
              </a:rPr>
              <a:t>Selected game: Tic-Tac-Toe, a modified version 5*5.</a:t>
            </a:r>
            <a:endParaRPr dirty="0">
              <a:latin typeface="Aptos Slab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  <a:sym typeface="Slabo 27px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3531717" y="2409131"/>
            <a:ext cx="11496637" cy="9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</a:rPr>
              <a:t>Building multiple AI agents to play the same board game.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labo 27px"/>
              <a:ea typeface="Slabo 27px"/>
              <a:cs typeface="Slabo 27px"/>
              <a:sym typeface="Slabo 27px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15690892" y="7495367"/>
            <a:ext cx="1681397" cy="1762933"/>
          </a:xfrm>
          <a:custGeom>
            <a:avLst/>
            <a:gdLst/>
            <a:ahLst/>
            <a:cxnLst/>
            <a:rect l="l" t="t" r="r" b="b"/>
            <a:pathLst>
              <a:path w="1681397" h="1762933" extrusionOk="0">
                <a:moveTo>
                  <a:pt x="0" y="0"/>
                </a:moveTo>
                <a:lnTo>
                  <a:pt x="1681397" y="0"/>
                </a:lnTo>
                <a:lnTo>
                  <a:pt x="1681397" y="1762933"/>
                </a:lnTo>
                <a:lnTo>
                  <a:pt x="0" y="176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134" name="Google Shape;134;p14"/>
          <p:cNvGrpSpPr/>
          <p:nvPr/>
        </p:nvGrpSpPr>
        <p:grpSpPr>
          <a:xfrm>
            <a:off x="988576" y="2988242"/>
            <a:ext cx="388978" cy="388978"/>
            <a:chOff x="0" y="0"/>
            <a:chExt cx="812800" cy="812800"/>
          </a:xfrm>
        </p:grpSpPr>
        <p:sp>
          <p:nvSpPr>
            <p:cNvPr id="135" name="Google Shape;13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4"/>
          <p:cNvGrpSpPr/>
          <p:nvPr/>
        </p:nvGrpSpPr>
        <p:grpSpPr>
          <a:xfrm>
            <a:off x="16531590" y="2599264"/>
            <a:ext cx="388978" cy="388978"/>
            <a:chOff x="0" y="0"/>
            <a:chExt cx="812800" cy="812800"/>
          </a:xfrm>
        </p:grpSpPr>
        <p:sp>
          <p:nvSpPr>
            <p:cNvPr id="138" name="Google Shape;13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4"/>
          <p:cNvGrpSpPr/>
          <p:nvPr/>
        </p:nvGrpSpPr>
        <p:grpSpPr>
          <a:xfrm>
            <a:off x="8611979" y="9032240"/>
            <a:ext cx="263909" cy="263909"/>
            <a:chOff x="0" y="0"/>
            <a:chExt cx="812800" cy="812800"/>
          </a:xfrm>
        </p:grpSpPr>
        <p:sp>
          <p:nvSpPr>
            <p:cNvPr id="141" name="Google Shape;14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4"/>
          <p:cNvSpPr/>
          <p:nvPr/>
        </p:nvSpPr>
        <p:spPr>
          <a:xfrm rot="9273880">
            <a:off x="14843984" y="-3861699"/>
            <a:ext cx="6222894" cy="6700290"/>
          </a:xfrm>
          <a:custGeom>
            <a:avLst/>
            <a:gdLst/>
            <a:ahLst/>
            <a:cxnLst/>
            <a:rect l="l" t="t" r="r" b="b"/>
            <a:pathLst>
              <a:path w="6222894" h="6700290" extrusionOk="0">
                <a:moveTo>
                  <a:pt x="0" y="0"/>
                </a:moveTo>
                <a:lnTo>
                  <a:pt x="6222894" y="0"/>
                </a:lnTo>
                <a:lnTo>
                  <a:pt x="6222894" y="6700290"/>
                </a:lnTo>
                <a:lnTo>
                  <a:pt x="0" y="67002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" name="Google Shape;129;p14">
            <a:extLst>
              <a:ext uri="{FF2B5EF4-FFF2-40B4-BE49-F238E27FC236}">
                <a16:creationId xmlns:a16="http://schemas.microsoft.com/office/drawing/2014/main" id="{E53BDE85-7627-CD51-DB64-0E8864294991}"/>
              </a:ext>
            </a:extLst>
          </p:cNvPr>
          <p:cNvSpPr txBox="1"/>
          <p:nvPr/>
        </p:nvSpPr>
        <p:spPr>
          <a:xfrm>
            <a:off x="3292645" y="5299579"/>
            <a:ext cx="10414067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  <a:sym typeface="Slabo 27px"/>
              </a:rPr>
              <a:t>Goal: Comparing different AI agents through tournaments.</a:t>
            </a:r>
            <a:endParaRPr dirty="0">
              <a:latin typeface="Aptos Slab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  <a:sym typeface="Slabo 27px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 rot="7657454">
            <a:off x="-2122074" y="-2329880"/>
            <a:ext cx="5418782" cy="5834490"/>
          </a:xfrm>
          <a:custGeom>
            <a:avLst/>
            <a:gdLst/>
            <a:ahLst/>
            <a:cxnLst/>
            <a:rect l="l" t="t" r="r" b="b"/>
            <a:pathLst>
              <a:path w="5418782" h="5834490" extrusionOk="0">
                <a:moveTo>
                  <a:pt x="0" y="0"/>
                </a:moveTo>
                <a:lnTo>
                  <a:pt x="5418782" y="0"/>
                </a:lnTo>
                <a:lnTo>
                  <a:pt x="5418782" y="5834489"/>
                </a:lnTo>
                <a:lnTo>
                  <a:pt x="0" y="58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55" name="Google Shape;155;p15"/>
          <p:cNvSpPr txBox="1"/>
          <p:nvPr/>
        </p:nvSpPr>
        <p:spPr>
          <a:xfrm>
            <a:off x="3119702" y="1301139"/>
            <a:ext cx="1274423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problem statement</a:t>
            </a:r>
            <a:endParaRPr dirty="0"/>
          </a:p>
        </p:txBody>
      </p:sp>
      <p:sp>
        <p:nvSpPr>
          <p:cNvPr id="157" name="Google Shape;157;p15"/>
          <p:cNvSpPr/>
          <p:nvPr/>
        </p:nvSpPr>
        <p:spPr>
          <a:xfrm rot="8879804">
            <a:off x="15571029" y="-2632481"/>
            <a:ext cx="5980864" cy="6439692"/>
          </a:xfrm>
          <a:custGeom>
            <a:avLst/>
            <a:gdLst/>
            <a:ahLst/>
            <a:cxnLst/>
            <a:rect l="l" t="t" r="r" b="b"/>
            <a:pathLst>
              <a:path w="5980864" h="6439692" extrusionOk="0">
                <a:moveTo>
                  <a:pt x="0" y="0"/>
                </a:moveTo>
                <a:lnTo>
                  <a:pt x="5980864" y="0"/>
                </a:lnTo>
                <a:lnTo>
                  <a:pt x="5980864" y="6439691"/>
                </a:lnTo>
                <a:lnTo>
                  <a:pt x="0" y="643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58" name="Google Shape;158;p15"/>
          <p:cNvSpPr/>
          <p:nvPr/>
        </p:nvSpPr>
        <p:spPr>
          <a:xfrm rot="-2986970">
            <a:off x="10264511" y="7656139"/>
            <a:ext cx="4225454" cy="4549614"/>
          </a:xfrm>
          <a:custGeom>
            <a:avLst/>
            <a:gdLst/>
            <a:ahLst/>
            <a:cxnLst/>
            <a:rect l="l" t="t" r="r" b="b"/>
            <a:pathLst>
              <a:path w="4225454" h="4549614" extrusionOk="0">
                <a:moveTo>
                  <a:pt x="0" y="0"/>
                </a:moveTo>
                <a:lnTo>
                  <a:pt x="4225455" y="0"/>
                </a:lnTo>
                <a:lnTo>
                  <a:pt x="4225455" y="4549614"/>
                </a:lnTo>
                <a:lnTo>
                  <a:pt x="0" y="4549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59" name="Google Shape;159;p15"/>
          <p:cNvSpPr/>
          <p:nvPr/>
        </p:nvSpPr>
        <p:spPr>
          <a:xfrm rot="-2986970">
            <a:off x="14112906" y="7413251"/>
            <a:ext cx="4225454" cy="4549614"/>
          </a:xfrm>
          <a:custGeom>
            <a:avLst/>
            <a:gdLst/>
            <a:ahLst/>
            <a:cxnLst/>
            <a:rect l="l" t="t" r="r" b="b"/>
            <a:pathLst>
              <a:path w="4225454" h="4549614" extrusionOk="0">
                <a:moveTo>
                  <a:pt x="0" y="0"/>
                </a:moveTo>
                <a:lnTo>
                  <a:pt x="4225455" y="0"/>
                </a:lnTo>
                <a:lnTo>
                  <a:pt x="4225455" y="4549614"/>
                </a:lnTo>
                <a:lnTo>
                  <a:pt x="0" y="4549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60" name="Google Shape;160;p15"/>
          <p:cNvSpPr/>
          <p:nvPr/>
        </p:nvSpPr>
        <p:spPr>
          <a:xfrm rot="-2986970">
            <a:off x="3716040" y="7534695"/>
            <a:ext cx="4225454" cy="4549614"/>
          </a:xfrm>
          <a:custGeom>
            <a:avLst/>
            <a:gdLst/>
            <a:ahLst/>
            <a:cxnLst/>
            <a:rect l="l" t="t" r="r" b="b"/>
            <a:pathLst>
              <a:path w="4225454" h="4549614" extrusionOk="0">
                <a:moveTo>
                  <a:pt x="0" y="0"/>
                </a:moveTo>
                <a:lnTo>
                  <a:pt x="4225455" y="0"/>
                </a:lnTo>
                <a:lnTo>
                  <a:pt x="4225455" y="4549614"/>
                </a:lnTo>
                <a:lnTo>
                  <a:pt x="0" y="4549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61" name="Google Shape;161;p15"/>
          <p:cNvSpPr/>
          <p:nvPr/>
        </p:nvSpPr>
        <p:spPr>
          <a:xfrm rot="-2700000">
            <a:off x="-54151" y="7676498"/>
            <a:ext cx="4225454" cy="4549614"/>
          </a:xfrm>
          <a:custGeom>
            <a:avLst/>
            <a:gdLst/>
            <a:ahLst/>
            <a:cxnLst/>
            <a:rect l="l" t="t" r="r" b="b"/>
            <a:pathLst>
              <a:path w="4225454" h="4549614" extrusionOk="0">
                <a:moveTo>
                  <a:pt x="0" y="0"/>
                </a:moveTo>
                <a:lnTo>
                  <a:pt x="4225454" y="0"/>
                </a:lnTo>
                <a:lnTo>
                  <a:pt x="4225454" y="4549614"/>
                </a:lnTo>
                <a:lnTo>
                  <a:pt x="0" y="4549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62" name="Google Shape;162;p15"/>
          <p:cNvSpPr/>
          <p:nvPr/>
        </p:nvSpPr>
        <p:spPr>
          <a:xfrm rot="-2986970">
            <a:off x="8479444" y="7656139"/>
            <a:ext cx="4225454" cy="4549614"/>
          </a:xfrm>
          <a:custGeom>
            <a:avLst/>
            <a:gdLst/>
            <a:ahLst/>
            <a:cxnLst/>
            <a:rect l="l" t="t" r="r" b="b"/>
            <a:pathLst>
              <a:path w="4225454" h="4549614" extrusionOk="0">
                <a:moveTo>
                  <a:pt x="0" y="0"/>
                </a:moveTo>
                <a:lnTo>
                  <a:pt x="4225454" y="0"/>
                </a:lnTo>
                <a:lnTo>
                  <a:pt x="4225454" y="4549614"/>
                </a:lnTo>
                <a:lnTo>
                  <a:pt x="0" y="4549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65" name="Google Shape;165;p15"/>
          <p:cNvSpPr/>
          <p:nvPr/>
        </p:nvSpPr>
        <p:spPr>
          <a:xfrm>
            <a:off x="16449855" y="587365"/>
            <a:ext cx="1165685" cy="1165685"/>
          </a:xfrm>
          <a:custGeom>
            <a:avLst/>
            <a:gdLst/>
            <a:ahLst/>
            <a:cxnLst/>
            <a:rect l="l" t="t" r="r" b="b"/>
            <a:pathLst>
              <a:path w="1165685" h="1165685" extrusionOk="0">
                <a:moveTo>
                  <a:pt x="0" y="0"/>
                </a:moveTo>
                <a:lnTo>
                  <a:pt x="1165684" y="0"/>
                </a:lnTo>
                <a:lnTo>
                  <a:pt x="1165684" y="1165684"/>
                </a:lnTo>
                <a:lnTo>
                  <a:pt x="0" y="1165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66" name="Google Shape;166;p15"/>
          <p:cNvSpPr/>
          <p:nvPr/>
        </p:nvSpPr>
        <p:spPr>
          <a:xfrm>
            <a:off x="11846868" y="5473408"/>
            <a:ext cx="710556" cy="770250"/>
          </a:xfrm>
          <a:custGeom>
            <a:avLst/>
            <a:gdLst/>
            <a:ahLst/>
            <a:cxnLst/>
            <a:rect l="l" t="t" r="r" b="b"/>
            <a:pathLst>
              <a:path w="710556" h="770250" extrusionOk="0">
                <a:moveTo>
                  <a:pt x="0" y="0"/>
                </a:moveTo>
                <a:lnTo>
                  <a:pt x="710556" y="0"/>
                </a:lnTo>
                <a:lnTo>
                  <a:pt x="710556" y="770250"/>
                </a:lnTo>
                <a:lnTo>
                  <a:pt x="0" y="770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67" name="Google Shape;167;p15"/>
          <p:cNvSpPr/>
          <p:nvPr/>
        </p:nvSpPr>
        <p:spPr>
          <a:xfrm>
            <a:off x="15278536" y="7186273"/>
            <a:ext cx="621805" cy="674044"/>
          </a:xfrm>
          <a:custGeom>
            <a:avLst/>
            <a:gdLst/>
            <a:ahLst/>
            <a:cxnLst/>
            <a:rect l="l" t="t" r="r" b="b"/>
            <a:pathLst>
              <a:path w="621805" h="674044" extrusionOk="0">
                <a:moveTo>
                  <a:pt x="0" y="0"/>
                </a:moveTo>
                <a:lnTo>
                  <a:pt x="621805" y="0"/>
                </a:lnTo>
                <a:lnTo>
                  <a:pt x="621805" y="674044"/>
                </a:lnTo>
                <a:lnTo>
                  <a:pt x="0" y="674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168" name="Google Shape;168;p15"/>
          <p:cNvGrpSpPr/>
          <p:nvPr/>
        </p:nvGrpSpPr>
        <p:grpSpPr>
          <a:xfrm>
            <a:off x="1562658" y="1075868"/>
            <a:ext cx="388978" cy="388978"/>
            <a:chOff x="0" y="0"/>
            <a:chExt cx="812800" cy="812800"/>
          </a:xfrm>
        </p:grpSpPr>
        <p:sp>
          <p:nvSpPr>
            <p:cNvPr id="169" name="Google Shape;169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5"/>
          <p:cNvGrpSpPr/>
          <p:nvPr/>
        </p:nvGrpSpPr>
        <p:grpSpPr>
          <a:xfrm>
            <a:off x="13073785" y="3927546"/>
            <a:ext cx="388978" cy="388978"/>
            <a:chOff x="0" y="0"/>
            <a:chExt cx="812800" cy="812800"/>
          </a:xfrm>
        </p:grpSpPr>
        <p:sp>
          <p:nvSpPr>
            <p:cNvPr id="172" name="Google Shape;172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5"/>
          <p:cNvGrpSpPr/>
          <p:nvPr/>
        </p:nvGrpSpPr>
        <p:grpSpPr>
          <a:xfrm>
            <a:off x="15618437" y="2800257"/>
            <a:ext cx="179141" cy="179141"/>
            <a:chOff x="0" y="0"/>
            <a:chExt cx="812800" cy="812800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5"/>
          <p:cNvGrpSpPr/>
          <p:nvPr/>
        </p:nvGrpSpPr>
        <p:grpSpPr>
          <a:xfrm>
            <a:off x="6156024" y="6704196"/>
            <a:ext cx="289306" cy="289306"/>
            <a:chOff x="0" y="0"/>
            <a:chExt cx="812800" cy="812800"/>
          </a:xfrm>
        </p:grpSpPr>
        <p:sp>
          <p:nvSpPr>
            <p:cNvPr id="178" name="Google Shape;178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15"/>
          <p:cNvGrpSpPr/>
          <p:nvPr/>
        </p:nvGrpSpPr>
        <p:grpSpPr>
          <a:xfrm>
            <a:off x="17226561" y="7509620"/>
            <a:ext cx="388978" cy="388978"/>
            <a:chOff x="0" y="0"/>
            <a:chExt cx="812800" cy="812800"/>
          </a:xfrm>
        </p:grpSpPr>
        <p:sp>
          <p:nvSpPr>
            <p:cNvPr id="181" name="Google Shape;181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F22693-8FAB-907A-C3A9-0E44EF5B1275}"/>
              </a:ext>
            </a:extLst>
          </p:cNvPr>
          <p:cNvSpPr txBox="1"/>
          <p:nvPr/>
        </p:nvSpPr>
        <p:spPr>
          <a:xfrm>
            <a:off x="2097596" y="3173150"/>
            <a:ext cx="12388362" cy="50167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Games are classic AI benchmarks because they require</a:t>
            </a:r>
          </a:p>
          <a:p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decision making, planning, and strategy.</a:t>
            </a:r>
          </a:p>
          <a:p>
            <a:endParaRPr lang="en-US" sz="3200" dirty="0">
              <a:solidFill>
                <a:schemeClr val="bg1"/>
              </a:solidFill>
              <a:latin typeface="Aptos Slab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This project compares three AI techniques:</a:t>
            </a:r>
          </a:p>
          <a:p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• Rule-Based Reflex Agent</a:t>
            </a:r>
          </a:p>
          <a:p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• Minimax Search Agent</a:t>
            </a:r>
          </a:p>
          <a:p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• Learning Agent</a:t>
            </a:r>
          </a:p>
          <a:p>
            <a:endParaRPr lang="en-US" sz="3200" dirty="0">
              <a:solidFill>
                <a:schemeClr val="bg1"/>
              </a:solidFill>
              <a:latin typeface="Aptos Slab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The agents compete against each other to evaluate</a:t>
            </a:r>
          </a:p>
          <a:p>
            <a:r>
              <a:rPr lang="en-US" sz="3200" dirty="0">
                <a:solidFill>
                  <a:schemeClr val="bg1"/>
                </a:solidFill>
                <a:latin typeface="Aptos Slab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performance, intelligence, and adaptability.</a:t>
            </a:r>
            <a:endParaRPr lang="ar-SA" sz="3200" dirty="0">
              <a:solidFill>
                <a:schemeClr val="bg1"/>
              </a:solidFill>
              <a:latin typeface="Aptos Slab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/>
          <p:nvPr/>
        </p:nvSpPr>
        <p:spPr>
          <a:xfrm rot="4547359">
            <a:off x="-4831053" y="-4865824"/>
            <a:ext cx="9662106" cy="10403344"/>
          </a:xfrm>
          <a:custGeom>
            <a:avLst/>
            <a:gdLst/>
            <a:ahLst/>
            <a:cxnLst/>
            <a:rect l="l" t="t" r="r" b="b"/>
            <a:pathLst>
              <a:path w="9662106" h="10403344" extrusionOk="0">
                <a:moveTo>
                  <a:pt x="0" y="0"/>
                </a:moveTo>
                <a:lnTo>
                  <a:pt x="9662106" y="0"/>
                </a:lnTo>
                <a:lnTo>
                  <a:pt x="9662106" y="10403344"/>
                </a:lnTo>
                <a:lnTo>
                  <a:pt x="0" y="10403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88" name="Google Shape;188;p16"/>
          <p:cNvSpPr/>
          <p:nvPr/>
        </p:nvSpPr>
        <p:spPr>
          <a:xfrm rot="-934622">
            <a:off x="-5656827" y="3626026"/>
            <a:ext cx="10765991" cy="11591915"/>
          </a:xfrm>
          <a:custGeom>
            <a:avLst/>
            <a:gdLst/>
            <a:ahLst/>
            <a:cxnLst/>
            <a:rect l="l" t="t" r="r" b="b"/>
            <a:pathLst>
              <a:path w="10765991" h="11591915" extrusionOk="0">
                <a:moveTo>
                  <a:pt x="0" y="0"/>
                </a:moveTo>
                <a:lnTo>
                  <a:pt x="10765991" y="0"/>
                </a:lnTo>
                <a:lnTo>
                  <a:pt x="10765991" y="11591914"/>
                </a:lnTo>
                <a:lnTo>
                  <a:pt x="0" y="11591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89" name="Google Shape;189;p16"/>
          <p:cNvSpPr txBox="1"/>
          <p:nvPr/>
        </p:nvSpPr>
        <p:spPr>
          <a:xfrm>
            <a:off x="1991166" y="3934388"/>
            <a:ext cx="15231513" cy="2496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20" b="0" i="0" u="none" strike="noStrike" cap="none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Implementation</a:t>
            </a:r>
            <a:endParaRPr lang="en-US" dirty="0"/>
          </a:p>
        </p:txBody>
      </p:sp>
      <p:sp>
        <p:nvSpPr>
          <p:cNvPr id="190" name="Google Shape;190;p16"/>
          <p:cNvSpPr/>
          <p:nvPr/>
        </p:nvSpPr>
        <p:spPr>
          <a:xfrm rot="10328858">
            <a:off x="13742530" y="-3434733"/>
            <a:ext cx="8855263" cy="9534604"/>
          </a:xfrm>
          <a:custGeom>
            <a:avLst/>
            <a:gdLst/>
            <a:ahLst/>
            <a:cxnLst/>
            <a:rect l="l" t="t" r="r" b="b"/>
            <a:pathLst>
              <a:path w="8855263" h="9534604" extrusionOk="0">
                <a:moveTo>
                  <a:pt x="0" y="0"/>
                </a:moveTo>
                <a:lnTo>
                  <a:pt x="8855263" y="0"/>
                </a:lnTo>
                <a:lnTo>
                  <a:pt x="8855263" y="9534604"/>
                </a:lnTo>
                <a:lnTo>
                  <a:pt x="0" y="9534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91" name="Google Shape;191;p16"/>
          <p:cNvSpPr/>
          <p:nvPr/>
        </p:nvSpPr>
        <p:spPr>
          <a:xfrm rot="-2910913">
            <a:off x="14096644" y="4493387"/>
            <a:ext cx="9662106" cy="10403344"/>
          </a:xfrm>
          <a:custGeom>
            <a:avLst/>
            <a:gdLst/>
            <a:ahLst/>
            <a:cxnLst/>
            <a:rect l="l" t="t" r="r" b="b"/>
            <a:pathLst>
              <a:path w="9662106" h="10403344" extrusionOk="0">
                <a:moveTo>
                  <a:pt x="0" y="0"/>
                </a:moveTo>
                <a:lnTo>
                  <a:pt x="9662105" y="0"/>
                </a:lnTo>
                <a:lnTo>
                  <a:pt x="9662105" y="10403344"/>
                </a:lnTo>
                <a:lnTo>
                  <a:pt x="0" y="10403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92" name="Google Shape;192;p16"/>
          <p:cNvSpPr/>
          <p:nvPr/>
        </p:nvSpPr>
        <p:spPr>
          <a:xfrm rot="-898220">
            <a:off x="15205938" y="7827501"/>
            <a:ext cx="2056657" cy="1871558"/>
          </a:xfrm>
          <a:custGeom>
            <a:avLst/>
            <a:gdLst/>
            <a:ahLst/>
            <a:cxnLst/>
            <a:rect l="l" t="t" r="r" b="b"/>
            <a:pathLst>
              <a:path w="2056657" h="1871558" extrusionOk="0">
                <a:moveTo>
                  <a:pt x="0" y="0"/>
                </a:moveTo>
                <a:lnTo>
                  <a:pt x="2056657" y="0"/>
                </a:lnTo>
                <a:lnTo>
                  <a:pt x="2056657" y="1871558"/>
                </a:lnTo>
                <a:lnTo>
                  <a:pt x="0" y="1871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93" name="Google Shape;193;p16"/>
          <p:cNvSpPr/>
          <p:nvPr/>
        </p:nvSpPr>
        <p:spPr>
          <a:xfrm rot="8730789">
            <a:off x="1268710" y="94125"/>
            <a:ext cx="2908908" cy="2647107"/>
          </a:xfrm>
          <a:custGeom>
            <a:avLst/>
            <a:gdLst/>
            <a:ahLst/>
            <a:cxnLst/>
            <a:rect l="l" t="t" r="r" b="b"/>
            <a:pathLst>
              <a:path w="2908908" h="2647107" extrusionOk="0">
                <a:moveTo>
                  <a:pt x="0" y="0"/>
                </a:moveTo>
                <a:lnTo>
                  <a:pt x="2908908" y="0"/>
                </a:lnTo>
                <a:lnTo>
                  <a:pt x="2908908" y="2647106"/>
                </a:lnTo>
                <a:lnTo>
                  <a:pt x="0" y="26471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94" name="Google Shape;194;p16"/>
          <p:cNvSpPr/>
          <p:nvPr/>
        </p:nvSpPr>
        <p:spPr>
          <a:xfrm>
            <a:off x="16623245" y="335848"/>
            <a:ext cx="3558812" cy="3033887"/>
          </a:xfrm>
          <a:custGeom>
            <a:avLst/>
            <a:gdLst/>
            <a:ahLst/>
            <a:cxnLst/>
            <a:rect l="l" t="t" r="r" b="b"/>
            <a:pathLst>
              <a:path w="3558812" h="3033887" extrusionOk="0">
                <a:moveTo>
                  <a:pt x="0" y="0"/>
                </a:moveTo>
                <a:lnTo>
                  <a:pt x="3558811" y="0"/>
                </a:lnTo>
                <a:lnTo>
                  <a:pt x="3558811" y="3033887"/>
                </a:lnTo>
                <a:lnTo>
                  <a:pt x="0" y="30338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95" name="Google Shape;195;p16"/>
          <p:cNvSpPr/>
          <p:nvPr/>
        </p:nvSpPr>
        <p:spPr>
          <a:xfrm rot="-1285177">
            <a:off x="-913673" y="7669438"/>
            <a:ext cx="2250764" cy="1918776"/>
          </a:xfrm>
          <a:custGeom>
            <a:avLst/>
            <a:gdLst/>
            <a:ahLst/>
            <a:cxnLst/>
            <a:rect l="l" t="t" r="r" b="b"/>
            <a:pathLst>
              <a:path w="2250764" h="1918776" extrusionOk="0">
                <a:moveTo>
                  <a:pt x="0" y="0"/>
                </a:moveTo>
                <a:lnTo>
                  <a:pt x="2250765" y="0"/>
                </a:lnTo>
                <a:lnTo>
                  <a:pt x="2250765" y="1918777"/>
                </a:lnTo>
                <a:lnTo>
                  <a:pt x="0" y="191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96" name="Google Shape;196;p16"/>
          <p:cNvSpPr/>
          <p:nvPr/>
        </p:nvSpPr>
        <p:spPr>
          <a:xfrm>
            <a:off x="11680488" y="1442012"/>
            <a:ext cx="1911512" cy="2057400"/>
          </a:xfrm>
          <a:custGeom>
            <a:avLst/>
            <a:gdLst/>
            <a:ahLst/>
            <a:cxnLst/>
            <a:rect l="l" t="t" r="r" b="b"/>
            <a:pathLst>
              <a:path w="1911512" h="2057400" extrusionOk="0">
                <a:moveTo>
                  <a:pt x="0" y="0"/>
                </a:moveTo>
                <a:lnTo>
                  <a:pt x="1911512" y="0"/>
                </a:lnTo>
                <a:lnTo>
                  <a:pt x="191151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197" name="Google Shape;197;p16"/>
          <p:cNvSpPr txBox="1"/>
          <p:nvPr/>
        </p:nvSpPr>
        <p:spPr>
          <a:xfrm>
            <a:off x="5309368" y="5832265"/>
            <a:ext cx="828263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Aptos Slab Black" panose="020B0004020202020204" pitchFamily="34" charset="0"/>
              </a:rPr>
              <a:t>How  the game was implemented</a:t>
            </a:r>
            <a:endParaRPr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  <p:sp>
        <p:nvSpPr>
          <p:cNvPr id="198" name="Google Shape;198;p16"/>
          <p:cNvSpPr/>
          <p:nvPr/>
        </p:nvSpPr>
        <p:spPr>
          <a:xfrm rot="-4487333">
            <a:off x="6127639" y="2044305"/>
            <a:ext cx="1252412" cy="1347997"/>
          </a:xfrm>
          <a:custGeom>
            <a:avLst/>
            <a:gdLst/>
            <a:ahLst/>
            <a:cxnLst/>
            <a:rect l="l" t="t" r="r" b="b"/>
            <a:pathLst>
              <a:path w="1252412" h="1347997" extrusionOk="0">
                <a:moveTo>
                  <a:pt x="0" y="0"/>
                </a:moveTo>
                <a:lnTo>
                  <a:pt x="1252412" y="0"/>
                </a:lnTo>
                <a:lnTo>
                  <a:pt x="1252412" y="1347997"/>
                </a:lnTo>
                <a:lnTo>
                  <a:pt x="0" y="1347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199" name="Google Shape;199;p16"/>
          <p:cNvGrpSpPr/>
          <p:nvPr/>
        </p:nvGrpSpPr>
        <p:grpSpPr>
          <a:xfrm>
            <a:off x="11052812" y="7399136"/>
            <a:ext cx="388978" cy="388978"/>
            <a:chOff x="0" y="0"/>
            <a:chExt cx="812800" cy="812800"/>
          </a:xfrm>
        </p:grpSpPr>
        <p:sp>
          <p:nvSpPr>
            <p:cNvPr id="200" name="Google Shape;200;p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6"/>
          <p:cNvGrpSpPr/>
          <p:nvPr/>
        </p:nvGrpSpPr>
        <p:grpSpPr>
          <a:xfrm>
            <a:off x="11052812" y="1028700"/>
            <a:ext cx="388978" cy="388978"/>
            <a:chOff x="0" y="0"/>
            <a:chExt cx="812800" cy="812800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14999110" y="4458569"/>
            <a:ext cx="179141" cy="179141"/>
            <a:chOff x="0" y="0"/>
            <a:chExt cx="812800" cy="8128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5939158" y="8568791"/>
            <a:ext cx="289306" cy="289306"/>
            <a:chOff x="0" y="0"/>
            <a:chExt cx="812800" cy="81280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580414" y="3304923"/>
            <a:ext cx="388978" cy="388978"/>
            <a:chOff x="0" y="0"/>
            <a:chExt cx="8128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/>
          <p:nvPr/>
        </p:nvSpPr>
        <p:spPr>
          <a:xfrm rot="10352434">
            <a:off x="11660855" y="5964144"/>
            <a:ext cx="9645216" cy="9247351"/>
          </a:xfrm>
          <a:custGeom>
            <a:avLst/>
            <a:gdLst/>
            <a:ahLst/>
            <a:cxnLst/>
            <a:rect l="l" t="t" r="r" b="b"/>
            <a:pathLst>
              <a:path w="9645216" h="9247351" extrusionOk="0">
                <a:moveTo>
                  <a:pt x="0" y="0"/>
                </a:moveTo>
                <a:lnTo>
                  <a:pt x="9645216" y="0"/>
                </a:lnTo>
                <a:lnTo>
                  <a:pt x="9645216" y="9247350"/>
                </a:lnTo>
                <a:lnTo>
                  <a:pt x="0" y="9247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80" name="Google Shape;280;p19"/>
          <p:cNvSpPr/>
          <p:nvPr/>
        </p:nvSpPr>
        <p:spPr>
          <a:xfrm rot="-246943">
            <a:off x="-3617136" y="-4821307"/>
            <a:ext cx="9645216" cy="9247351"/>
          </a:xfrm>
          <a:custGeom>
            <a:avLst/>
            <a:gdLst/>
            <a:ahLst/>
            <a:cxnLst/>
            <a:rect l="l" t="t" r="r" b="b"/>
            <a:pathLst>
              <a:path w="9645216" h="9247351" extrusionOk="0">
                <a:moveTo>
                  <a:pt x="0" y="0"/>
                </a:moveTo>
                <a:lnTo>
                  <a:pt x="9645216" y="0"/>
                </a:lnTo>
                <a:lnTo>
                  <a:pt x="9645216" y="9247351"/>
                </a:lnTo>
                <a:lnTo>
                  <a:pt x="0" y="9247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cxnSp>
        <p:nvCxnSpPr>
          <p:cNvPr id="281" name="Google Shape;281;p19"/>
          <p:cNvCxnSpPr/>
          <p:nvPr/>
        </p:nvCxnSpPr>
        <p:spPr>
          <a:xfrm rot="10800000" flipH="1">
            <a:off x="2232183" y="6037190"/>
            <a:ext cx="14089228" cy="12101"/>
          </a:xfrm>
          <a:prstGeom prst="straightConnector1">
            <a:avLst/>
          </a:prstGeom>
          <a:noFill/>
          <a:ln w="63500" cap="flat" cmpd="sng">
            <a:solidFill>
              <a:srgbClr val="FFD3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2" name="Google Shape;282;p19"/>
          <p:cNvSpPr/>
          <p:nvPr/>
        </p:nvSpPr>
        <p:spPr>
          <a:xfrm>
            <a:off x="2898509" y="5866432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B6B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5712690" y="5874310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B6B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11619359" y="5874310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B6B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5" name="Google Shape;285;p19"/>
          <p:cNvGrpSpPr/>
          <p:nvPr/>
        </p:nvGrpSpPr>
        <p:grpSpPr>
          <a:xfrm>
            <a:off x="13317283" y="3159690"/>
            <a:ext cx="2217493" cy="2217493"/>
            <a:chOff x="0" y="0"/>
            <a:chExt cx="812800" cy="812800"/>
          </a:xfrm>
        </p:grpSpPr>
        <p:sp>
          <p:nvSpPr>
            <p:cNvPr id="286" name="Google Shape;28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19"/>
          <p:cNvSpPr/>
          <p:nvPr/>
        </p:nvSpPr>
        <p:spPr>
          <a:xfrm>
            <a:off x="13481121" y="3159690"/>
            <a:ext cx="1889815" cy="1889815"/>
          </a:xfrm>
          <a:custGeom>
            <a:avLst/>
            <a:gdLst/>
            <a:ahLst/>
            <a:cxnLst/>
            <a:rect l="l" t="t" r="r" b="b"/>
            <a:pathLst>
              <a:path w="2519753" h="2519753" extrusionOk="0">
                <a:moveTo>
                  <a:pt x="0" y="0"/>
                </a:moveTo>
                <a:lnTo>
                  <a:pt x="2519754" y="0"/>
                </a:lnTo>
                <a:lnTo>
                  <a:pt x="2519754" y="2519753"/>
                </a:lnTo>
                <a:lnTo>
                  <a:pt x="0" y="2519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89" name="Google Shape;289;p19"/>
          <p:cNvSpPr/>
          <p:nvPr/>
        </p:nvSpPr>
        <p:spPr>
          <a:xfrm>
            <a:off x="14547406" y="5885266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B6B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4334619" y="6245149"/>
            <a:ext cx="3244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i="0" u="none" strike="noStrike" cap="none" dirty="0">
                <a:solidFill>
                  <a:srgbClr val="FFFFFF"/>
                </a:solidFill>
                <a:latin typeface="Slabo 27px"/>
                <a:ea typeface="Slabo 27px"/>
                <a:cs typeface="Slabo 27px"/>
                <a:sym typeface="Slabo 27px"/>
              </a:rPr>
              <a:t>Rule-based agent</a:t>
            </a:r>
            <a:endParaRPr sz="3500" dirty="0">
              <a:latin typeface="Slabo 27px"/>
              <a:ea typeface="Slabo 27px"/>
              <a:cs typeface="Slabo 27px"/>
              <a:sym typeface="Slabo 27px"/>
            </a:endParaRPr>
          </a:p>
        </p:txBody>
      </p:sp>
      <p:grpSp>
        <p:nvGrpSpPr>
          <p:cNvPr id="292" name="Google Shape;292;p19"/>
          <p:cNvGrpSpPr/>
          <p:nvPr/>
        </p:nvGrpSpPr>
        <p:grpSpPr>
          <a:xfrm>
            <a:off x="9636573" y="3186713"/>
            <a:ext cx="2217493" cy="2217493"/>
            <a:chOff x="0" y="0"/>
            <a:chExt cx="812800" cy="812800"/>
          </a:xfrm>
        </p:grpSpPr>
        <p:sp>
          <p:nvSpPr>
            <p:cNvPr id="293" name="Google Shape;29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9"/>
          <p:cNvSpPr/>
          <p:nvPr/>
        </p:nvSpPr>
        <p:spPr>
          <a:xfrm>
            <a:off x="9935567" y="3485708"/>
            <a:ext cx="1619504" cy="1619504"/>
          </a:xfrm>
          <a:custGeom>
            <a:avLst/>
            <a:gdLst/>
            <a:ahLst/>
            <a:cxnLst/>
            <a:rect l="l" t="t" r="r" b="b"/>
            <a:pathLst>
              <a:path w="2159339" h="2159339" extrusionOk="0">
                <a:moveTo>
                  <a:pt x="0" y="0"/>
                </a:moveTo>
                <a:lnTo>
                  <a:pt x="2159339" y="0"/>
                </a:lnTo>
                <a:lnTo>
                  <a:pt x="2159339" y="2159338"/>
                </a:lnTo>
                <a:lnTo>
                  <a:pt x="0" y="2159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96" name="Google Shape;296;p19"/>
          <p:cNvGrpSpPr/>
          <p:nvPr/>
        </p:nvGrpSpPr>
        <p:grpSpPr>
          <a:xfrm>
            <a:off x="5955863" y="3186713"/>
            <a:ext cx="2217493" cy="2217493"/>
            <a:chOff x="0" y="0"/>
            <a:chExt cx="812800" cy="812800"/>
          </a:xfrm>
        </p:grpSpPr>
        <p:sp>
          <p:nvSpPr>
            <p:cNvPr id="297" name="Google Shape;29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19"/>
          <p:cNvSpPr/>
          <p:nvPr/>
        </p:nvSpPr>
        <p:spPr>
          <a:xfrm>
            <a:off x="6098550" y="3329400"/>
            <a:ext cx="1932118" cy="1932118"/>
          </a:xfrm>
          <a:custGeom>
            <a:avLst/>
            <a:gdLst/>
            <a:ahLst/>
            <a:cxnLst/>
            <a:rect l="l" t="t" r="r" b="b"/>
            <a:pathLst>
              <a:path w="2576157" h="2576157" extrusionOk="0">
                <a:moveTo>
                  <a:pt x="0" y="0"/>
                </a:moveTo>
                <a:lnTo>
                  <a:pt x="2576157" y="0"/>
                </a:lnTo>
                <a:lnTo>
                  <a:pt x="2576157" y="2576158"/>
                </a:lnTo>
                <a:lnTo>
                  <a:pt x="0" y="2576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300" name="Google Shape;300;p19"/>
          <p:cNvGrpSpPr/>
          <p:nvPr/>
        </p:nvGrpSpPr>
        <p:grpSpPr>
          <a:xfrm>
            <a:off x="1966570" y="3186713"/>
            <a:ext cx="2217493" cy="2217493"/>
            <a:chOff x="0" y="0"/>
            <a:chExt cx="812800" cy="812800"/>
          </a:xfrm>
        </p:grpSpPr>
        <p:sp>
          <p:nvSpPr>
            <p:cNvPr id="301" name="Google Shape;30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19"/>
          <p:cNvSpPr/>
          <p:nvPr/>
        </p:nvSpPr>
        <p:spPr>
          <a:xfrm>
            <a:off x="2254067" y="3474210"/>
            <a:ext cx="1642499" cy="1642499"/>
          </a:xfrm>
          <a:custGeom>
            <a:avLst/>
            <a:gdLst/>
            <a:ahLst/>
            <a:cxnLst/>
            <a:rect l="l" t="t" r="r" b="b"/>
            <a:pathLst>
              <a:path w="2189998" h="2189998" extrusionOk="0">
                <a:moveTo>
                  <a:pt x="0" y="0"/>
                </a:moveTo>
                <a:lnTo>
                  <a:pt x="2189998" y="0"/>
                </a:lnTo>
                <a:lnTo>
                  <a:pt x="2189998" y="2189998"/>
                </a:lnTo>
                <a:lnTo>
                  <a:pt x="0" y="2189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304" name="Google Shape;304;p19"/>
          <p:cNvSpPr txBox="1"/>
          <p:nvPr/>
        </p:nvSpPr>
        <p:spPr>
          <a:xfrm>
            <a:off x="1312456" y="6199944"/>
            <a:ext cx="3244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Slabo 27px"/>
                <a:ea typeface="Slabo 27px"/>
                <a:cs typeface="Slabo 27px"/>
                <a:sym typeface="Slabo 27px"/>
              </a:rPr>
              <a:t>Game engine</a:t>
            </a:r>
            <a:endParaRPr sz="3500" dirty="0">
              <a:latin typeface="Slabo 27px"/>
              <a:ea typeface="Slabo 27px"/>
              <a:cs typeface="Slabo 27px"/>
              <a:sym typeface="Slabo 27px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7578819" y="6267145"/>
            <a:ext cx="3244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i="0" u="none" strike="noStrike" cap="none" dirty="0">
                <a:solidFill>
                  <a:srgbClr val="FFFFFF"/>
                </a:solidFill>
                <a:latin typeface="Slabo 27px"/>
                <a:ea typeface="Slabo 27px"/>
                <a:cs typeface="Slabo 27px"/>
                <a:sym typeface="Slabo 27px"/>
              </a:rPr>
              <a:t>Minimax agent</a:t>
            </a:r>
            <a:endParaRPr lang="en-US" sz="3500" dirty="0">
              <a:latin typeface="Slabo 27px"/>
              <a:ea typeface="Slabo 27px"/>
              <a:cs typeface="Slabo 27px"/>
              <a:sym typeface="Slabo 27px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10513870" y="6311798"/>
            <a:ext cx="3244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i="0" u="none" strike="noStrike" cap="none" dirty="0">
                <a:solidFill>
                  <a:srgbClr val="FFFFFF"/>
                </a:solidFill>
                <a:latin typeface="Slabo 27px"/>
                <a:ea typeface="Slabo 27px"/>
                <a:cs typeface="Slabo 27px"/>
                <a:sym typeface="Slabo 27px"/>
              </a:rPr>
              <a:t>Learning agent</a:t>
            </a:r>
            <a:endParaRPr sz="3500" dirty="0">
              <a:latin typeface="Slabo 27px"/>
              <a:ea typeface="Slabo 27px"/>
              <a:cs typeface="Slabo 27px"/>
              <a:sym typeface="Slabo 27px"/>
            </a:endParaRPr>
          </a:p>
        </p:txBody>
      </p:sp>
      <p:grpSp>
        <p:nvGrpSpPr>
          <p:cNvPr id="311" name="Google Shape;311;p19"/>
          <p:cNvGrpSpPr/>
          <p:nvPr/>
        </p:nvGrpSpPr>
        <p:grpSpPr>
          <a:xfrm>
            <a:off x="15578138" y="1249322"/>
            <a:ext cx="388978" cy="388978"/>
            <a:chOff x="0" y="0"/>
            <a:chExt cx="812800" cy="812800"/>
          </a:xfrm>
        </p:grpSpPr>
        <p:sp>
          <p:nvSpPr>
            <p:cNvPr id="312" name="Google Shape;31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19"/>
          <p:cNvGrpSpPr/>
          <p:nvPr/>
        </p:nvGrpSpPr>
        <p:grpSpPr>
          <a:xfrm>
            <a:off x="14999110" y="4458569"/>
            <a:ext cx="179141" cy="179141"/>
            <a:chOff x="0" y="0"/>
            <a:chExt cx="812800" cy="812800"/>
          </a:xfrm>
        </p:grpSpPr>
        <p:sp>
          <p:nvSpPr>
            <p:cNvPr id="315" name="Google Shape;31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19"/>
          <p:cNvGrpSpPr/>
          <p:nvPr/>
        </p:nvGrpSpPr>
        <p:grpSpPr>
          <a:xfrm>
            <a:off x="5600192" y="8665639"/>
            <a:ext cx="289306" cy="289306"/>
            <a:chOff x="0" y="0"/>
            <a:chExt cx="812800" cy="812800"/>
          </a:xfrm>
        </p:grpSpPr>
        <p:sp>
          <p:nvSpPr>
            <p:cNvPr id="318" name="Google Shape;31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19"/>
          <p:cNvGrpSpPr/>
          <p:nvPr/>
        </p:nvGrpSpPr>
        <p:grpSpPr>
          <a:xfrm>
            <a:off x="865711" y="1153268"/>
            <a:ext cx="679521" cy="679521"/>
            <a:chOff x="0" y="0"/>
            <a:chExt cx="812800" cy="812800"/>
          </a:xfrm>
        </p:grpSpPr>
        <p:sp>
          <p:nvSpPr>
            <p:cNvPr id="321" name="Google Shape;32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Google Shape;283;p19">
            <a:extLst>
              <a:ext uri="{FF2B5EF4-FFF2-40B4-BE49-F238E27FC236}">
                <a16:creationId xmlns:a16="http://schemas.microsoft.com/office/drawing/2014/main" id="{A3019867-2C70-EB60-6CD9-2C87A4657173}"/>
              </a:ext>
            </a:extLst>
          </p:cNvPr>
          <p:cNvSpPr/>
          <p:nvPr/>
        </p:nvSpPr>
        <p:spPr>
          <a:xfrm>
            <a:off x="9024111" y="5846328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B6B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308;p19">
            <a:extLst>
              <a:ext uri="{FF2B5EF4-FFF2-40B4-BE49-F238E27FC236}">
                <a16:creationId xmlns:a16="http://schemas.microsoft.com/office/drawing/2014/main" id="{94A4CAAD-7516-013B-E2ED-22A3F06DAFA8}"/>
              </a:ext>
            </a:extLst>
          </p:cNvPr>
          <p:cNvSpPr txBox="1"/>
          <p:nvPr/>
        </p:nvSpPr>
        <p:spPr>
          <a:xfrm>
            <a:off x="13246924" y="6260946"/>
            <a:ext cx="3244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solidFill>
                  <a:srgbClr val="FFFFFF"/>
                </a:solidFill>
                <a:latin typeface="Slabo 27px"/>
                <a:ea typeface="Slabo 27px"/>
                <a:cs typeface="Slabo 27px"/>
                <a:sym typeface="Slabo 27px"/>
              </a:rPr>
              <a:t>Tournament</a:t>
            </a:r>
            <a:endParaRPr sz="3500" dirty="0">
              <a:latin typeface="Slabo 27px"/>
              <a:ea typeface="Slabo 27px"/>
              <a:cs typeface="Slabo 27px"/>
              <a:sym typeface="Slabo 27px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 rot="-1268739">
            <a:off x="-5131279" y="-1713347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19" name="Google Shape;219;p17"/>
          <p:cNvSpPr txBox="1"/>
          <p:nvPr/>
        </p:nvSpPr>
        <p:spPr>
          <a:xfrm>
            <a:off x="824154" y="360923"/>
            <a:ext cx="1555732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G</a:t>
            </a:r>
            <a:r>
              <a:rPr lang="en-US" sz="8000" b="0" i="0" u="none" strike="noStrike" cap="none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ame engine</a:t>
            </a:r>
            <a:endParaRPr dirty="0"/>
          </a:p>
        </p:txBody>
      </p:sp>
      <p:sp>
        <p:nvSpPr>
          <p:cNvPr id="221" name="Google Shape;221;p17"/>
          <p:cNvSpPr/>
          <p:nvPr/>
        </p:nvSpPr>
        <p:spPr>
          <a:xfrm rot="6194671">
            <a:off x="11820362" y="-2049887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22" name="Google Shape;222;p17"/>
          <p:cNvGrpSpPr/>
          <p:nvPr/>
        </p:nvGrpSpPr>
        <p:grpSpPr>
          <a:xfrm>
            <a:off x="16922663" y="9023207"/>
            <a:ext cx="388978" cy="388978"/>
            <a:chOff x="0" y="0"/>
            <a:chExt cx="812800" cy="812800"/>
          </a:xfrm>
        </p:grpSpPr>
        <p:sp>
          <p:nvSpPr>
            <p:cNvPr id="223" name="Google Shape;22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7"/>
          <p:cNvGrpSpPr/>
          <p:nvPr/>
        </p:nvGrpSpPr>
        <p:grpSpPr>
          <a:xfrm>
            <a:off x="976359" y="7133550"/>
            <a:ext cx="388978" cy="388978"/>
            <a:chOff x="0" y="0"/>
            <a:chExt cx="812800" cy="812800"/>
          </a:xfrm>
        </p:grpSpPr>
        <p:sp>
          <p:nvSpPr>
            <p:cNvPr id="226" name="Google Shape;22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7"/>
          <p:cNvGrpSpPr/>
          <p:nvPr/>
        </p:nvGrpSpPr>
        <p:grpSpPr>
          <a:xfrm>
            <a:off x="12631093" y="1028700"/>
            <a:ext cx="388978" cy="388978"/>
            <a:chOff x="0" y="0"/>
            <a:chExt cx="812800" cy="812800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17"/>
          <p:cNvGrpSpPr/>
          <p:nvPr/>
        </p:nvGrpSpPr>
        <p:grpSpPr>
          <a:xfrm>
            <a:off x="976359" y="2033219"/>
            <a:ext cx="388978" cy="388978"/>
            <a:chOff x="0" y="0"/>
            <a:chExt cx="812800" cy="812800"/>
          </a:xfrm>
        </p:grpSpPr>
        <p:sp>
          <p:nvSpPr>
            <p:cNvPr id="232" name="Google Shape;23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7"/>
          <p:cNvSpPr/>
          <p:nvPr/>
        </p:nvSpPr>
        <p:spPr>
          <a:xfrm>
            <a:off x="2206716" y="397390"/>
            <a:ext cx="1619559" cy="1483600"/>
          </a:xfrm>
          <a:custGeom>
            <a:avLst/>
            <a:gdLst/>
            <a:ahLst/>
            <a:cxnLst/>
            <a:rect l="l" t="t" r="r" b="b"/>
            <a:pathLst>
              <a:path w="6494349" h="5430899" extrusionOk="0">
                <a:moveTo>
                  <a:pt x="0" y="0"/>
                </a:moveTo>
                <a:lnTo>
                  <a:pt x="6494349" y="0"/>
                </a:lnTo>
                <a:lnTo>
                  <a:pt x="6494349" y="5430900"/>
                </a:lnTo>
                <a:lnTo>
                  <a:pt x="0" y="5430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35" name="Google Shape;235;p17"/>
          <p:cNvGrpSpPr/>
          <p:nvPr/>
        </p:nvGrpSpPr>
        <p:grpSpPr>
          <a:xfrm>
            <a:off x="13562537" y="4700688"/>
            <a:ext cx="179141" cy="179141"/>
            <a:chOff x="0" y="0"/>
            <a:chExt cx="812800" cy="812800"/>
          </a:xfrm>
        </p:grpSpPr>
        <p:sp>
          <p:nvSpPr>
            <p:cNvPr id="236" name="Google Shape;23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7"/>
          <p:cNvGrpSpPr/>
          <p:nvPr/>
        </p:nvGrpSpPr>
        <p:grpSpPr>
          <a:xfrm>
            <a:off x="4046315" y="1272472"/>
            <a:ext cx="145206" cy="145206"/>
            <a:chOff x="0" y="0"/>
            <a:chExt cx="812800" cy="812800"/>
          </a:xfrm>
        </p:grpSpPr>
        <p:sp>
          <p:nvSpPr>
            <p:cNvPr id="239" name="Google Shape;23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7"/>
          <p:cNvGrpSpPr/>
          <p:nvPr/>
        </p:nvGrpSpPr>
        <p:grpSpPr>
          <a:xfrm>
            <a:off x="16870322" y="956097"/>
            <a:ext cx="388978" cy="388978"/>
            <a:chOff x="0" y="0"/>
            <a:chExt cx="812800" cy="812800"/>
          </a:xfrm>
        </p:grpSpPr>
        <p:sp>
          <p:nvSpPr>
            <p:cNvPr id="242" name="Google Shape;24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9A88FC2-E470-466F-2F60-716F62A3F824}"/>
              </a:ext>
            </a:extLst>
          </p:cNvPr>
          <p:cNvSpPr txBox="1"/>
          <p:nvPr/>
        </p:nvSpPr>
        <p:spPr>
          <a:xfrm>
            <a:off x="2991324" y="2308490"/>
            <a:ext cx="4270159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Board Structure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5×5 Tic-Tac-Toe board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Two players: X and O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Empty cells represented by spaces</a:t>
            </a:r>
          </a:p>
          <a:p>
            <a:endParaRPr lang="ar-SA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5B7F1-B69A-E6EC-441B-A780E289F34B}"/>
              </a:ext>
            </a:extLst>
          </p:cNvPr>
          <p:cNvSpPr txBox="1"/>
          <p:nvPr/>
        </p:nvSpPr>
        <p:spPr>
          <a:xfrm>
            <a:off x="2906093" y="5637802"/>
            <a:ext cx="4746530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State Representation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Each board configuration represents a game state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Stored as a 2D matrix</a:t>
            </a: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494E3-8594-733D-AF30-3678EAF69608}"/>
              </a:ext>
            </a:extLst>
          </p:cNvPr>
          <p:cNvSpPr txBox="1"/>
          <p:nvPr/>
        </p:nvSpPr>
        <p:spPr>
          <a:xfrm>
            <a:off x="9886701" y="2385730"/>
            <a:ext cx="4690433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Legal Moves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A player can place a symbol in any empty cell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Turns alternate between players</a:t>
            </a: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E58E0-AD43-D36E-5C89-41C0BD345A3C}"/>
              </a:ext>
            </a:extLst>
          </p:cNvPr>
          <p:cNvSpPr txBox="1"/>
          <p:nvPr/>
        </p:nvSpPr>
        <p:spPr>
          <a:xfrm>
            <a:off x="9908907" y="5637802"/>
            <a:ext cx="7013755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Terminal States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game ends when: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A player gets 4 consecutive symbols </a:t>
            </a:r>
          </a:p>
          <a:p>
            <a:pPr lvl="1"/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Horizontal </a:t>
            </a:r>
          </a:p>
          <a:p>
            <a:pPr lvl="1"/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Vertical </a:t>
            </a:r>
          </a:p>
          <a:p>
            <a:pPr lvl="1"/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Diagonal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OR the board becomes full (Draw)</a:t>
            </a: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/>
          <p:nvPr/>
        </p:nvSpPr>
        <p:spPr>
          <a:xfrm>
            <a:off x="-4012932" y="-3505690"/>
            <a:ext cx="10759879" cy="8095445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328" name="Google Shape;328;p20"/>
          <p:cNvSpPr txBox="1"/>
          <p:nvPr/>
        </p:nvSpPr>
        <p:spPr>
          <a:xfrm>
            <a:off x="4679501" y="275218"/>
            <a:ext cx="849371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FD33B"/>
                </a:solidFill>
                <a:latin typeface="Aptos Slab Black" panose="020B0004020202020204" pitchFamily="34" charset="0"/>
                <a:ea typeface="Black Ops One"/>
                <a:cs typeface="Black Ops One"/>
                <a:sym typeface="Black Ops One"/>
              </a:rPr>
              <a:t>R</a:t>
            </a:r>
            <a:r>
              <a:rPr lang="en-US" sz="8000" b="0" i="0" u="none" strike="noStrike" cap="none" dirty="0">
                <a:solidFill>
                  <a:srgbClr val="FFD33B"/>
                </a:solidFill>
                <a:latin typeface="Aptos Slab Black" panose="020B0004020202020204" pitchFamily="34" charset="0"/>
                <a:ea typeface="Black Ops One"/>
                <a:cs typeface="Black Ops One"/>
                <a:sym typeface="Black Ops One"/>
              </a:rPr>
              <a:t>ule-based agent</a:t>
            </a:r>
            <a:endParaRPr sz="8000" dirty="0">
              <a:latin typeface="Aptos Slab Black" panose="020B0004020202020204" pitchFamily="34" charset="0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2766469" y="2462216"/>
            <a:ext cx="77448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dirty="0">
                <a:solidFill>
                  <a:srgbClr val="EC008A"/>
                </a:solidFill>
                <a:latin typeface="Aptos Slab Black" panose="020B0004020202020204" pitchFamily="34" charset="0"/>
              </a:rPr>
              <a:t> </a:t>
            </a:r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Description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Rule-Based Agent is a simple reflex agent that makes decisions using predefined strategies instead of learning from experience.</a:t>
            </a:r>
          </a:p>
        </p:txBody>
      </p:sp>
      <p:sp>
        <p:nvSpPr>
          <p:cNvPr id="330" name="Google Shape;330;p20"/>
          <p:cNvSpPr/>
          <p:nvPr/>
        </p:nvSpPr>
        <p:spPr>
          <a:xfrm rot="10044073">
            <a:off x="12076281" y="2089494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3"/>
                </a:lnTo>
                <a:lnTo>
                  <a:pt x="0" y="10429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331" name="Google Shape;331;p20"/>
          <p:cNvSpPr/>
          <p:nvPr/>
        </p:nvSpPr>
        <p:spPr>
          <a:xfrm rot="9764725">
            <a:off x="-1985203" y="7648342"/>
            <a:ext cx="3782698" cy="1658990"/>
          </a:xfrm>
          <a:custGeom>
            <a:avLst/>
            <a:gdLst/>
            <a:ahLst/>
            <a:cxnLst/>
            <a:rect l="l" t="t" r="r" b="b"/>
            <a:pathLst>
              <a:path w="7245651" h="2862032" extrusionOk="0">
                <a:moveTo>
                  <a:pt x="0" y="0"/>
                </a:moveTo>
                <a:lnTo>
                  <a:pt x="7245651" y="0"/>
                </a:lnTo>
                <a:lnTo>
                  <a:pt x="7245651" y="2862032"/>
                </a:lnTo>
                <a:lnTo>
                  <a:pt x="0" y="2862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332" name="Google Shape;332;p20"/>
          <p:cNvSpPr/>
          <p:nvPr/>
        </p:nvSpPr>
        <p:spPr>
          <a:xfrm rot="-1245179">
            <a:off x="14316178" y="7614209"/>
            <a:ext cx="3582306" cy="1415011"/>
          </a:xfrm>
          <a:custGeom>
            <a:avLst/>
            <a:gdLst/>
            <a:ahLst/>
            <a:cxnLst/>
            <a:rect l="l" t="t" r="r" b="b"/>
            <a:pathLst>
              <a:path w="3582306" h="1415011" extrusionOk="0">
                <a:moveTo>
                  <a:pt x="0" y="0"/>
                </a:moveTo>
                <a:lnTo>
                  <a:pt x="3582307" y="0"/>
                </a:lnTo>
                <a:lnTo>
                  <a:pt x="3582307" y="1415011"/>
                </a:lnTo>
                <a:lnTo>
                  <a:pt x="0" y="1415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334" name="Google Shape;334;p20"/>
          <p:cNvSpPr/>
          <p:nvPr/>
        </p:nvSpPr>
        <p:spPr>
          <a:xfrm rot="5276393">
            <a:off x="15024281" y="249176"/>
            <a:ext cx="1646481" cy="1977216"/>
          </a:xfrm>
          <a:custGeom>
            <a:avLst/>
            <a:gdLst/>
            <a:ahLst/>
            <a:cxnLst/>
            <a:rect l="l" t="t" r="r" b="b"/>
            <a:pathLst>
              <a:path w="1646481" h="1977216" extrusionOk="0">
                <a:moveTo>
                  <a:pt x="0" y="0"/>
                </a:moveTo>
                <a:lnTo>
                  <a:pt x="1646481" y="0"/>
                </a:lnTo>
                <a:lnTo>
                  <a:pt x="1646481" y="1977216"/>
                </a:lnTo>
                <a:lnTo>
                  <a:pt x="0" y="19772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335" name="Google Shape;335;p20"/>
          <p:cNvSpPr/>
          <p:nvPr/>
        </p:nvSpPr>
        <p:spPr>
          <a:xfrm rot="-4653490">
            <a:off x="16303579" y="1792930"/>
            <a:ext cx="2350076" cy="2822144"/>
          </a:xfrm>
          <a:custGeom>
            <a:avLst/>
            <a:gdLst/>
            <a:ahLst/>
            <a:cxnLst/>
            <a:rect l="l" t="t" r="r" b="b"/>
            <a:pathLst>
              <a:path w="2350076" h="2822144" extrusionOk="0">
                <a:moveTo>
                  <a:pt x="0" y="0"/>
                </a:moveTo>
                <a:lnTo>
                  <a:pt x="2350076" y="0"/>
                </a:lnTo>
                <a:lnTo>
                  <a:pt x="2350076" y="2822144"/>
                </a:lnTo>
                <a:lnTo>
                  <a:pt x="0" y="2822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336" name="Google Shape;336;p20"/>
          <p:cNvGrpSpPr/>
          <p:nvPr/>
        </p:nvGrpSpPr>
        <p:grpSpPr>
          <a:xfrm>
            <a:off x="1543633" y="2317568"/>
            <a:ext cx="388978" cy="388978"/>
            <a:chOff x="0" y="0"/>
            <a:chExt cx="812800" cy="812800"/>
          </a:xfrm>
        </p:grpSpPr>
        <p:sp>
          <p:nvSpPr>
            <p:cNvPr id="337" name="Google Shape;337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20"/>
          <p:cNvGrpSpPr/>
          <p:nvPr/>
        </p:nvGrpSpPr>
        <p:grpSpPr>
          <a:xfrm>
            <a:off x="10680848" y="7980874"/>
            <a:ext cx="388978" cy="388978"/>
            <a:chOff x="0" y="0"/>
            <a:chExt cx="812800" cy="812800"/>
          </a:xfrm>
        </p:grpSpPr>
        <p:sp>
          <p:nvSpPr>
            <p:cNvPr id="340" name="Google Shape;340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20"/>
          <p:cNvGrpSpPr/>
          <p:nvPr/>
        </p:nvGrpSpPr>
        <p:grpSpPr>
          <a:xfrm>
            <a:off x="7278090" y="2096030"/>
            <a:ext cx="388978" cy="388978"/>
            <a:chOff x="0" y="0"/>
            <a:chExt cx="812800" cy="812800"/>
          </a:xfrm>
        </p:grpSpPr>
        <p:sp>
          <p:nvSpPr>
            <p:cNvPr id="343" name="Google Shape;343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20"/>
          <p:cNvGrpSpPr/>
          <p:nvPr/>
        </p:nvGrpSpPr>
        <p:grpSpPr>
          <a:xfrm>
            <a:off x="16621680" y="1485362"/>
            <a:ext cx="179141" cy="179141"/>
            <a:chOff x="0" y="0"/>
            <a:chExt cx="812800" cy="812800"/>
          </a:xfrm>
        </p:grpSpPr>
        <p:sp>
          <p:nvSpPr>
            <p:cNvPr id="346" name="Google Shape;346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20"/>
          <p:cNvGrpSpPr/>
          <p:nvPr/>
        </p:nvGrpSpPr>
        <p:grpSpPr>
          <a:xfrm>
            <a:off x="1932611" y="4868198"/>
            <a:ext cx="275302" cy="275302"/>
            <a:chOff x="0" y="0"/>
            <a:chExt cx="812800" cy="812800"/>
          </a:xfrm>
        </p:grpSpPr>
        <p:sp>
          <p:nvSpPr>
            <p:cNvPr id="349" name="Google Shape;349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CE8A9B5-E4B0-B84B-6C7F-DCA96941092E}"/>
              </a:ext>
            </a:extLst>
          </p:cNvPr>
          <p:cNvSpPr txBox="1"/>
          <p:nvPr/>
        </p:nvSpPr>
        <p:spPr>
          <a:xfrm>
            <a:off x="2631783" y="4938407"/>
            <a:ext cx="6986726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Implemented Rules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Play a winning move if available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Block opponent winning moves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Create fork opportunities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Take the center position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Take corner positions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Choose a random valid move</a:t>
            </a: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DBA60D-B9B6-8EFD-04A7-425AD0B574D8}"/>
              </a:ext>
            </a:extLst>
          </p:cNvPr>
          <p:cNvSpPr txBox="1"/>
          <p:nvPr/>
        </p:nvSpPr>
        <p:spPr>
          <a:xfrm>
            <a:off x="11069824" y="2279123"/>
            <a:ext cx="5328085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Key Features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Fast decision making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No training required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Uses heuristic strategies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Easy to implement </a:t>
            </a:r>
          </a:p>
          <a:p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EE712-2F82-0951-A654-45FE377B3970}"/>
              </a:ext>
            </a:extLst>
          </p:cNvPr>
          <p:cNvSpPr txBox="1"/>
          <p:nvPr/>
        </p:nvSpPr>
        <p:spPr>
          <a:xfrm>
            <a:off x="11069824" y="4877877"/>
            <a:ext cx="4980373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Limitations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Cannot learn from previous games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Predictable behavior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Limited strategic depth </a:t>
            </a:r>
          </a:p>
          <a:p>
            <a:endParaRPr lang="ar-S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217">
          <a:extLst>
            <a:ext uri="{FF2B5EF4-FFF2-40B4-BE49-F238E27FC236}">
              <a16:creationId xmlns:a16="http://schemas.microsoft.com/office/drawing/2014/main" id="{D10BE1D7-E7D7-50C7-177F-5EF4EA7E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>
            <a:extLst>
              <a:ext uri="{FF2B5EF4-FFF2-40B4-BE49-F238E27FC236}">
                <a16:creationId xmlns:a16="http://schemas.microsoft.com/office/drawing/2014/main" id="{3E4536CA-F563-47D0-9EC6-94FC76EF07FD}"/>
              </a:ext>
            </a:extLst>
          </p:cNvPr>
          <p:cNvSpPr/>
          <p:nvPr/>
        </p:nvSpPr>
        <p:spPr>
          <a:xfrm rot="-1268739">
            <a:off x="-5131279" y="-1713347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19" name="Google Shape;219;p17">
            <a:extLst>
              <a:ext uri="{FF2B5EF4-FFF2-40B4-BE49-F238E27FC236}">
                <a16:creationId xmlns:a16="http://schemas.microsoft.com/office/drawing/2014/main" id="{AE10747D-DC56-0840-02B6-867516C32E51}"/>
              </a:ext>
            </a:extLst>
          </p:cNvPr>
          <p:cNvSpPr txBox="1"/>
          <p:nvPr/>
        </p:nvSpPr>
        <p:spPr>
          <a:xfrm>
            <a:off x="824154" y="360923"/>
            <a:ext cx="1555732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Minimax agent</a:t>
            </a:r>
            <a:endParaRPr dirty="0"/>
          </a:p>
        </p:txBody>
      </p:sp>
      <p:sp>
        <p:nvSpPr>
          <p:cNvPr id="221" name="Google Shape;221;p17">
            <a:extLst>
              <a:ext uri="{FF2B5EF4-FFF2-40B4-BE49-F238E27FC236}">
                <a16:creationId xmlns:a16="http://schemas.microsoft.com/office/drawing/2014/main" id="{759D3759-650F-BEAB-EFE4-B64A60F7BAC5}"/>
              </a:ext>
            </a:extLst>
          </p:cNvPr>
          <p:cNvSpPr/>
          <p:nvPr/>
        </p:nvSpPr>
        <p:spPr>
          <a:xfrm rot="6194671">
            <a:off x="11820362" y="-2049887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22" name="Google Shape;222;p17">
            <a:extLst>
              <a:ext uri="{FF2B5EF4-FFF2-40B4-BE49-F238E27FC236}">
                <a16:creationId xmlns:a16="http://schemas.microsoft.com/office/drawing/2014/main" id="{9F8533A4-ED1A-B662-2540-B5A4AC386315}"/>
              </a:ext>
            </a:extLst>
          </p:cNvPr>
          <p:cNvGrpSpPr/>
          <p:nvPr/>
        </p:nvGrpSpPr>
        <p:grpSpPr>
          <a:xfrm>
            <a:off x="16922663" y="9023207"/>
            <a:ext cx="388978" cy="388978"/>
            <a:chOff x="0" y="0"/>
            <a:chExt cx="812800" cy="812800"/>
          </a:xfrm>
        </p:grpSpPr>
        <p:sp>
          <p:nvSpPr>
            <p:cNvPr id="223" name="Google Shape;223;p17">
              <a:extLst>
                <a:ext uri="{FF2B5EF4-FFF2-40B4-BE49-F238E27FC236}">
                  <a16:creationId xmlns:a16="http://schemas.microsoft.com/office/drawing/2014/main" id="{E8A6E32E-AFE6-EA92-12E6-2AB2BD4834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7">
              <a:extLst>
                <a:ext uri="{FF2B5EF4-FFF2-40B4-BE49-F238E27FC236}">
                  <a16:creationId xmlns:a16="http://schemas.microsoft.com/office/drawing/2014/main" id="{93F480B7-544C-8B32-9E64-76A9519D424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7">
            <a:extLst>
              <a:ext uri="{FF2B5EF4-FFF2-40B4-BE49-F238E27FC236}">
                <a16:creationId xmlns:a16="http://schemas.microsoft.com/office/drawing/2014/main" id="{19E60D29-FE6A-735D-607E-158FF9F3944D}"/>
              </a:ext>
            </a:extLst>
          </p:cNvPr>
          <p:cNvGrpSpPr/>
          <p:nvPr/>
        </p:nvGrpSpPr>
        <p:grpSpPr>
          <a:xfrm>
            <a:off x="976359" y="7133550"/>
            <a:ext cx="388978" cy="388978"/>
            <a:chOff x="0" y="0"/>
            <a:chExt cx="812800" cy="812800"/>
          </a:xfrm>
        </p:grpSpPr>
        <p:sp>
          <p:nvSpPr>
            <p:cNvPr id="226" name="Google Shape;226;p17">
              <a:extLst>
                <a:ext uri="{FF2B5EF4-FFF2-40B4-BE49-F238E27FC236}">
                  <a16:creationId xmlns:a16="http://schemas.microsoft.com/office/drawing/2014/main" id="{D0F37700-E108-5EAE-8B3D-3B4A198BD7D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>
              <a:extLst>
                <a:ext uri="{FF2B5EF4-FFF2-40B4-BE49-F238E27FC236}">
                  <a16:creationId xmlns:a16="http://schemas.microsoft.com/office/drawing/2014/main" id="{7B544AE6-002B-01F0-CA1B-2CE165ED3AC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7">
            <a:extLst>
              <a:ext uri="{FF2B5EF4-FFF2-40B4-BE49-F238E27FC236}">
                <a16:creationId xmlns:a16="http://schemas.microsoft.com/office/drawing/2014/main" id="{CA8CBA8D-829A-AF8E-34B5-3E43441FF7CB}"/>
              </a:ext>
            </a:extLst>
          </p:cNvPr>
          <p:cNvGrpSpPr/>
          <p:nvPr/>
        </p:nvGrpSpPr>
        <p:grpSpPr>
          <a:xfrm>
            <a:off x="12631093" y="1028700"/>
            <a:ext cx="388978" cy="388978"/>
            <a:chOff x="0" y="0"/>
            <a:chExt cx="812800" cy="812800"/>
          </a:xfrm>
        </p:grpSpPr>
        <p:sp>
          <p:nvSpPr>
            <p:cNvPr id="229" name="Google Shape;229;p17">
              <a:extLst>
                <a:ext uri="{FF2B5EF4-FFF2-40B4-BE49-F238E27FC236}">
                  <a16:creationId xmlns:a16="http://schemas.microsoft.com/office/drawing/2014/main" id="{B77EF60C-3C20-3957-FB04-87D015B253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7">
              <a:extLst>
                <a:ext uri="{FF2B5EF4-FFF2-40B4-BE49-F238E27FC236}">
                  <a16:creationId xmlns:a16="http://schemas.microsoft.com/office/drawing/2014/main" id="{77327EDE-5274-DA3A-2956-EAA9059D5A0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17">
            <a:extLst>
              <a:ext uri="{FF2B5EF4-FFF2-40B4-BE49-F238E27FC236}">
                <a16:creationId xmlns:a16="http://schemas.microsoft.com/office/drawing/2014/main" id="{36E73085-99F5-5330-3BCD-4F0C5DCC7754}"/>
              </a:ext>
            </a:extLst>
          </p:cNvPr>
          <p:cNvGrpSpPr/>
          <p:nvPr/>
        </p:nvGrpSpPr>
        <p:grpSpPr>
          <a:xfrm>
            <a:off x="976359" y="2033219"/>
            <a:ext cx="388978" cy="388978"/>
            <a:chOff x="0" y="0"/>
            <a:chExt cx="812800" cy="812800"/>
          </a:xfrm>
        </p:grpSpPr>
        <p:sp>
          <p:nvSpPr>
            <p:cNvPr id="232" name="Google Shape;232;p17">
              <a:extLst>
                <a:ext uri="{FF2B5EF4-FFF2-40B4-BE49-F238E27FC236}">
                  <a16:creationId xmlns:a16="http://schemas.microsoft.com/office/drawing/2014/main" id="{4C0412BC-B8EE-717C-C196-2A78047BDB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7">
              <a:extLst>
                <a:ext uri="{FF2B5EF4-FFF2-40B4-BE49-F238E27FC236}">
                  <a16:creationId xmlns:a16="http://schemas.microsoft.com/office/drawing/2014/main" id="{043BC135-B474-48DA-6724-F542327B020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7">
            <a:extLst>
              <a:ext uri="{FF2B5EF4-FFF2-40B4-BE49-F238E27FC236}">
                <a16:creationId xmlns:a16="http://schemas.microsoft.com/office/drawing/2014/main" id="{FF6861E7-7AC3-A65C-4444-AD93EE189005}"/>
              </a:ext>
            </a:extLst>
          </p:cNvPr>
          <p:cNvSpPr/>
          <p:nvPr/>
        </p:nvSpPr>
        <p:spPr>
          <a:xfrm>
            <a:off x="2206716" y="397390"/>
            <a:ext cx="1619559" cy="1483600"/>
          </a:xfrm>
          <a:custGeom>
            <a:avLst/>
            <a:gdLst/>
            <a:ahLst/>
            <a:cxnLst/>
            <a:rect l="l" t="t" r="r" b="b"/>
            <a:pathLst>
              <a:path w="6494349" h="5430899" extrusionOk="0">
                <a:moveTo>
                  <a:pt x="0" y="0"/>
                </a:moveTo>
                <a:lnTo>
                  <a:pt x="6494349" y="0"/>
                </a:lnTo>
                <a:lnTo>
                  <a:pt x="6494349" y="5430900"/>
                </a:lnTo>
                <a:lnTo>
                  <a:pt x="0" y="5430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35" name="Google Shape;235;p17">
            <a:extLst>
              <a:ext uri="{FF2B5EF4-FFF2-40B4-BE49-F238E27FC236}">
                <a16:creationId xmlns:a16="http://schemas.microsoft.com/office/drawing/2014/main" id="{3CE1DE11-E085-A0D6-07E2-2EAAB073CF30}"/>
              </a:ext>
            </a:extLst>
          </p:cNvPr>
          <p:cNvGrpSpPr/>
          <p:nvPr/>
        </p:nvGrpSpPr>
        <p:grpSpPr>
          <a:xfrm>
            <a:off x="13562537" y="4700688"/>
            <a:ext cx="179141" cy="179141"/>
            <a:chOff x="0" y="0"/>
            <a:chExt cx="812800" cy="812800"/>
          </a:xfrm>
        </p:grpSpPr>
        <p:sp>
          <p:nvSpPr>
            <p:cNvPr id="236" name="Google Shape;236;p17">
              <a:extLst>
                <a:ext uri="{FF2B5EF4-FFF2-40B4-BE49-F238E27FC236}">
                  <a16:creationId xmlns:a16="http://schemas.microsoft.com/office/drawing/2014/main" id="{1C74C22F-4C79-1407-4879-9D204BE257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7">
              <a:extLst>
                <a:ext uri="{FF2B5EF4-FFF2-40B4-BE49-F238E27FC236}">
                  <a16:creationId xmlns:a16="http://schemas.microsoft.com/office/drawing/2014/main" id="{2856819B-2727-F031-F7A0-25EF86D9D8D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7">
            <a:extLst>
              <a:ext uri="{FF2B5EF4-FFF2-40B4-BE49-F238E27FC236}">
                <a16:creationId xmlns:a16="http://schemas.microsoft.com/office/drawing/2014/main" id="{08192D30-7447-9E6B-B9F0-0F0A4637B2EF}"/>
              </a:ext>
            </a:extLst>
          </p:cNvPr>
          <p:cNvGrpSpPr/>
          <p:nvPr/>
        </p:nvGrpSpPr>
        <p:grpSpPr>
          <a:xfrm>
            <a:off x="4046315" y="1272472"/>
            <a:ext cx="145206" cy="145206"/>
            <a:chOff x="0" y="0"/>
            <a:chExt cx="812800" cy="812800"/>
          </a:xfrm>
        </p:grpSpPr>
        <p:sp>
          <p:nvSpPr>
            <p:cNvPr id="239" name="Google Shape;239;p17">
              <a:extLst>
                <a:ext uri="{FF2B5EF4-FFF2-40B4-BE49-F238E27FC236}">
                  <a16:creationId xmlns:a16="http://schemas.microsoft.com/office/drawing/2014/main" id="{25FA06EC-F1CE-59F9-C424-92B3FF8D56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7">
              <a:extLst>
                <a:ext uri="{FF2B5EF4-FFF2-40B4-BE49-F238E27FC236}">
                  <a16:creationId xmlns:a16="http://schemas.microsoft.com/office/drawing/2014/main" id="{C6FA3257-8882-B8DA-C32B-6CFBD9E20FA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7">
            <a:extLst>
              <a:ext uri="{FF2B5EF4-FFF2-40B4-BE49-F238E27FC236}">
                <a16:creationId xmlns:a16="http://schemas.microsoft.com/office/drawing/2014/main" id="{3BD001F3-D310-27C0-F9AA-07AAA69816AD}"/>
              </a:ext>
            </a:extLst>
          </p:cNvPr>
          <p:cNvGrpSpPr/>
          <p:nvPr/>
        </p:nvGrpSpPr>
        <p:grpSpPr>
          <a:xfrm>
            <a:off x="16870322" y="956097"/>
            <a:ext cx="388978" cy="388978"/>
            <a:chOff x="0" y="0"/>
            <a:chExt cx="812800" cy="812800"/>
          </a:xfrm>
        </p:grpSpPr>
        <p:sp>
          <p:nvSpPr>
            <p:cNvPr id="242" name="Google Shape;242;p17">
              <a:extLst>
                <a:ext uri="{FF2B5EF4-FFF2-40B4-BE49-F238E27FC236}">
                  <a16:creationId xmlns:a16="http://schemas.microsoft.com/office/drawing/2014/main" id="{CEB090C9-4757-23D3-1AFA-0A5ABEDB267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7">
              <a:extLst>
                <a:ext uri="{FF2B5EF4-FFF2-40B4-BE49-F238E27FC236}">
                  <a16:creationId xmlns:a16="http://schemas.microsoft.com/office/drawing/2014/main" id="{42952E3F-AD1A-4D2E-6953-BE5338699DF2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B5C06E-9CA7-E131-5FDE-8304AC240CE9}"/>
              </a:ext>
            </a:extLst>
          </p:cNvPr>
          <p:cNvSpPr txBox="1"/>
          <p:nvPr/>
        </p:nvSpPr>
        <p:spPr>
          <a:xfrm>
            <a:off x="2991324" y="2308490"/>
            <a:ext cx="7286517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Description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Minimax Agent uses adversarial search to choose the optimal move by exploring future game states.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algorithm assumes: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AI player tries to maximize the score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opponent tries to minimize the score</a:t>
            </a:r>
          </a:p>
          <a:p>
            <a:endParaRPr lang="ar-SA" sz="2800" dirty="0">
              <a:latin typeface="Aptos Slab Black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E87901-FD78-11CA-9999-F6DAA14B6F34}"/>
                  </a:ext>
                </a:extLst>
              </p:cNvPr>
              <p:cNvSpPr txBox="1"/>
              <p:nvPr/>
            </p:nvSpPr>
            <p:spPr>
              <a:xfrm>
                <a:off x="3089429" y="6004600"/>
                <a:ext cx="10344398" cy="302505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Aptos Slab Black" panose="020B0004020202020204" pitchFamily="34" charset="0"/>
                  </a:rPr>
                  <a:t>The agent simulates future moves and selects the best possible outcome.</a:t>
                </a:r>
              </a:p>
              <a:p>
                <a:br>
                  <a:rPr lang="en-US" sz="2800" dirty="0">
                    <a:solidFill>
                      <a:schemeClr val="bg1"/>
                    </a:solidFill>
                  </a:rPr>
                </a:br>
                <a:endParaRPr lang="en-US" sz="2800" dirty="0">
                  <a:solidFill>
                    <a:schemeClr val="bg1"/>
                  </a:solidFill>
                  <a:latin typeface="Aptos Slab Black" panose="020B0004020202020204" pitchFamily="34" charset="0"/>
                </a:endParaRPr>
              </a:p>
              <a:p>
                <a:r>
                  <a:rPr lang="en-US" sz="2800" b="1" dirty="0">
                    <a:solidFill>
                      <a:srgbClr val="EC008A"/>
                    </a:solidFill>
                    <a:latin typeface="Aptos Slab Black" panose="020B0004020202020204" pitchFamily="34" charset="0"/>
                  </a:rPr>
                  <a:t>Minimax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SA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SA" sz="20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SA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S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Aptos Slab Black" panose="020B0004020202020204" pitchFamily="34" charset="0"/>
                                </a:rPr>
                                <m:t>future</m:t>
                              </m:r>
                              <m:r>
                                <m:rPr>
                                  <m:nor/>
                                </m:r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Aptos Slab Black" panose="020B00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Aptos Slab Black" panose="020B0004020202020204" pitchFamily="34" charset="0"/>
                                </a:rPr>
                                <m:t>game</m:t>
                              </m:r>
                              <m:r>
                                <m:rPr>
                                  <m:nor/>
                                </m:r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Aptos Slab Black" panose="020B00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Aptos Slab Black" panose="020B0004020202020204" pitchFamily="34" charset="0"/>
                                </a:rPr>
                                <m:t>states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SA" sz="2000" dirty="0">
                  <a:solidFill>
                    <a:schemeClr val="bg1"/>
                  </a:solidFill>
                  <a:latin typeface="Aptos Slab Black" panose="020B0004020202020204" pitchFamily="34" charset="0"/>
                </a:endParaRPr>
              </a:p>
              <a:p>
                <a:endParaRPr lang="ar-SA" sz="2800" dirty="0">
                  <a:solidFill>
                    <a:schemeClr val="bg1"/>
                  </a:solidFill>
                  <a:latin typeface="Aptos Slab Black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E87901-FD78-11CA-9999-F6DAA14B6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429" y="6004600"/>
                <a:ext cx="10344398" cy="3025059"/>
              </a:xfrm>
              <a:prstGeom prst="rect">
                <a:avLst/>
              </a:prstGeom>
              <a:blipFill>
                <a:blip r:embed="rId5"/>
                <a:stretch>
                  <a:fillRect l="-1237" t="-2016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8B6D45A-58C8-62C4-27B9-3620A696C5E1}"/>
              </a:ext>
            </a:extLst>
          </p:cNvPr>
          <p:cNvSpPr txBox="1"/>
          <p:nvPr/>
        </p:nvSpPr>
        <p:spPr>
          <a:xfrm>
            <a:off x="10197420" y="2308490"/>
            <a:ext cx="5001151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Alpha-Beta Pruning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algorithm uses Alpha-Beta Pruning to reduce unnecessary searches.</a:t>
            </a:r>
          </a:p>
          <a:p>
            <a:r>
              <a:rPr lang="en-US" sz="28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Purpose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Speed up decision making Eliminate branches that cannot affect final result.</a:t>
            </a: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33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217">
          <a:extLst>
            <a:ext uri="{FF2B5EF4-FFF2-40B4-BE49-F238E27FC236}">
              <a16:creationId xmlns:a16="http://schemas.microsoft.com/office/drawing/2014/main" id="{DE3F9E56-BBE5-6AE5-1583-37B5C3223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>
            <a:extLst>
              <a:ext uri="{FF2B5EF4-FFF2-40B4-BE49-F238E27FC236}">
                <a16:creationId xmlns:a16="http://schemas.microsoft.com/office/drawing/2014/main" id="{D2B2798B-A57E-A56F-AAEA-B766E9A8ADF5}"/>
              </a:ext>
            </a:extLst>
          </p:cNvPr>
          <p:cNvSpPr/>
          <p:nvPr/>
        </p:nvSpPr>
        <p:spPr>
          <a:xfrm rot="-1268739">
            <a:off x="-5131279" y="-1713347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19" name="Google Shape;219;p17">
            <a:extLst>
              <a:ext uri="{FF2B5EF4-FFF2-40B4-BE49-F238E27FC236}">
                <a16:creationId xmlns:a16="http://schemas.microsoft.com/office/drawing/2014/main" id="{AC28509A-9756-5548-4CFE-E877E9555EA1}"/>
              </a:ext>
            </a:extLst>
          </p:cNvPr>
          <p:cNvSpPr txBox="1"/>
          <p:nvPr/>
        </p:nvSpPr>
        <p:spPr>
          <a:xfrm>
            <a:off x="682112" y="441494"/>
            <a:ext cx="1555732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Learning agent</a:t>
            </a:r>
            <a:endParaRPr dirty="0"/>
          </a:p>
        </p:txBody>
      </p:sp>
      <p:sp>
        <p:nvSpPr>
          <p:cNvPr id="221" name="Google Shape;221;p17">
            <a:extLst>
              <a:ext uri="{FF2B5EF4-FFF2-40B4-BE49-F238E27FC236}">
                <a16:creationId xmlns:a16="http://schemas.microsoft.com/office/drawing/2014/main" id="{CFADF2BE-82EC-6C63-8D58-C7F5E8FEECE0}"/>
              </a:ext>
            </a:extLst>
          </p:cNvPr>
          <p:cNvSpPr/>
          <p:nvPr/>
        </p:nvSpPr>
        <p:spPr>
          <a:xfrm rot="6194671">
            <a:off x="11662545" y="-2291365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22" name="Google Shape;222;p17">
            <a:extLst>
              <a:ext uri="{FF2B5EF4-FFF2-40B4-BE49-F238E27FC236}">
                <a16:creationId xmlns:a16="http://schemas.microsoft.com/office/drawing/2014/main" id="{F9EF5A29-AE0F-5540-83F5-FCB36C6D7934}"/>
              </a:ext>
            </a:extLst>
          </p:cNvPr>
          <p:cNvGrpSpPr/>
          <p:nvPr/>
        </p:nvGrpSpPr>
        <p:grpSpPr>
          <a:xfrm>
            <a:off x="16922663" y="9023207"/>
            <a:ext cx="388978" cy="388978"/>
            <a:chOff x="0" y="0"/>
            <a:chExt cx="812800" cy="812800"/>
          </a:xfrm>
        </p:grpSpPr>
        <p:sp>
          <p:nvSpPr>
            <p:cNvPr id="223" name="Google Shape;223;p17">
              <a:extLst>
                <a:ext uri="{FF2B5EF4-FFF2-40B4-BE49-F238E27FC236}">
                  <a16:creationId xmlns:a16="http://schemas.microsoft.com/office/drawing/2014/main" id="{5DF8E22B-0299-A828-C864-A456DC4BFB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C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7">
              <a:extLst>
                <a:ext uri="{FF2B5EF4-FFF2-40B4-BE49-F238E27FC236}">
                  <a16:creationId xmlns:a16="http://schemas.microsoft.com/office/drawing/2014/main" id="{D39EA16A-3A7B-6F35-4486-EBEAADE352F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7">
            <a:extLst>
              <a:ext uri="{FF2B5EF4-FFF2-40B4-BE49-F238E27FC236}">
                <a16:creationId xmlns:a16="http://schemas.microsoft.com/office/drawing/2014/main" id="{BB69B9AD-A79A-AA3D-6767-6CD82BAE27E0}"/>
              </a:ext>
            </a:extLst>
          </p:cNvPr>
          <p:cNvGrpSpPr/>
          <p:nvPr/>
        </p:nvGrpSpPr>
        <p:grpSpPr>
          <a:xfrm>
            <a:off x="976359" y="7133550"/>
            <a:ext cx="388978" cy="388978"/>
            <a:chOff x="0" y="0"/>
            <a:chExt cx="812800" cy="812800"/>
          </a:xfrm>
        </p:grpSpPr>
        <p:sp>
          <p:nvSpPr>
            <p:cNvPr id="226" name="Google Shape;226;p17">
              <a:extLst>
                <a:ext uri="{FF2B5EF4-FFF2-40B4-BE49-F238E27FC236}">
                  <a16:creationId xmlns:a16="http://schemas.microsoft.com/office/drawing/2014/main" id="{A46CADD5-679F-E061-D191-64B93CF9AA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>
              <a:extLst>
                <a:ext uri="{FF2B5EF4-FFF2-40B4-BE49-F238E27FC236}">
                  <a16:creationId xmlns:a16="http://schemas.microsoft.com/office/drawing/2014/main" id="{24E5B3F2-A394-950D-F13C-CF6668444CE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7">
            <a:extLst>
              <a:ext uri="{FF2B5EF4-FFF2-40B4-BE49-F238E27FC236}">
                <a16:creationId xmlns:a16="http://schemas.microsoft.com/office/drawing/2014/main" id="{6ED8C36E-C194-0502-6BC5-4034A619CD6B}"/>
              </a:ext>
            </a:extLst>
          </p:cNvPr>
          <p:cNvGrpSpPr/>
          <p:nvPr/>
        </p:nvGrpSpPr>
        <p:grpSpPr>
          <a:xfrm>
            <a:off x="12631093" y="1028700"/>
            <a:ext cx="388978" cy="388978"/>
            <a:chOff x="0" y="0"/>
            <a:chExt cx="812800" cy="812800"/>
          </a:xfrm>
        </p:grpSpPr>
        <p:sp>
          <p:nvSpPr>
            <p:cNvPr id="229" name="Google Shape;229;p17">
              <a:extLst>
                <a:ext uri="{FF2B5EF4-FFF2-40B4-BE49-F238E27FC236}">
                  <a16:creationId xmlns:a16="http://schemas.microsoft.com/office/drawing/2014/main" id="{A62CA1C5-2F8E-DDE3-EE4D-4F11DC4B6E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7">
              <a:extLst>
                <a:ext uri="{FF2B5EF4-FFF2-40B4-BE49-F238E27FC236}">
                  <a16:creationId xmlns:a16="http://schemas.microsoft.com/office/drawing/2014/main" id="{0BB8E9D5-B555-0B8F-99EC-E52AC5A5002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17">
            <a:extLst>
              <a:ext uri="{FF2B5EF4-FFF2-40B4-BE49-F238E27FC236}">
                <a16:creationId xmlns:a16="http://schemas.microsoft.com/office/drawing/2014/main" id="{C685D07C-981B-868C-3E9A-B8521A07525F}"/>
              </a:ext>
            </a:extLst>
          </p:cNvPr>
          <p:cNvGrpSpPr/>
          <p:nvPr/>
        </p:nvGrpSpPr>
        <p:grpSpPr>
          <a:xfrm>
            <a:off x="976359" y="2033219"/>
            <a:ext cx="388978" cy="388978"/>
            <a:chOff x="0" y="0"/>
            <a:chExt cx="812800" cy="812800"/>
          </a:xfrm>
        </p:grpSpPr>
        <p:sp>
          <p:nvSpPr>
            <p:cNvPr id="232" name="Google Shape;232;p17">
              <a:extLst>
                <a:ext uri="{FF2B5EF4-FFF2-40B4-BE49-F238E27FC236}">
                  <a16:creationId xmlns:a16="http://schemas.microsoft.com/office/drawing/2014/main" id="{203BC91C-4157-0577-BD13-8E9C44A38A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7">
              <a:extLst>
                <a:ext uri="{FF2B5EF4-FFF2-40B4-BE49-F238E27FC236}">
                  <a16:creationId xmlns:a16="http://schemas.microsoft.com/office/drawing/2014/main" id="{D32BCC50-F283-C9F0-AFCC-9466EF8F75A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7">
            <a:extLst>
              <a:ext uri="{FF2B5EF4-FFF2-40B4-BE49-F238E27FC236}">
                <a16:creationId xmlns:a16="http://schemas.microsoft.com/office/drawing/2014/main" id="{CAA2462F-F86A-1205-C4EF-EC8EC41659AD}"/>
              </a:ext>
            </a:extLst>
          </p:cNvPr>
          <p:cNvSpPr/>
          <p:nvPr/>
        </p:nvSpPr>
        <p:spPr>
          <a:xfrm>
            <a:off x="2206716" y="397390"/>
            <a:ext cx="1619559" cy="1483600"/>
          </a:xfrm>
          <a:custGeom>
            <a:avLst/>
            <a:gdLst/>
            <a:ahLst/>
            <a:cxnLst/>
            <a:rect l="l" t="t" r="r" b="b"/>
            <a:pathLst>
              <a:path w="6494349" h="5430899" extrusionOk="0">
                <a:moveTo>
                  <a:pt x="0" y="0"/>
                </a:moveTo>
                <a:lnTo>
                  <a:pt x="6494349" y="0"/>
                </a:lnTo>
                <a:lnTo>
                  <a:pt x="6494349" y="5430900"/>
                </a:lnTo>
                <a:lnTo>
                  <a:pt x="0" y="5430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35" name="Google Shape;235;p17">
            <a:extLst>
              <a:ext uri="{FF2B5EF4-FFF2-40B4-BE49-F238E27FC236}">
                <a16:creationId xmlns:a16="http://schemas.microsoft.com/office/drawing/2014/main" id="{574B499D-867B-C2C6-5010-78DBE27D010E}"/>
              </a:ext>
            </a:extLst>
          </p:cNvPr>
          <p:cNvGrpSpPr/>
          <p:nvPr/>
        </p:nvGrpSpPr>
        <p:grpSpPr>
          <a:xfrm>
            <a:off x="13562537" y="4700688"/>
            <a:ext cx="179141" cy="179141"/>
            <a:chOff x="0" y="0"/>
            <a:chExt cx="812800" cy="812800"/>
          </a:xfrm>
        </p:grpSpPr>
        <p:sp>
          <p:nvSpPr>
            <p:cNvPr id="236" name="Google Shape;236;p17">
              <a:extLst>
                <a:ext uri="{FF2B5EF4-FFF2-40B4-BE49-F238E27FC236}">
                  <a16:creationId xmlns:a16="http://schemas.microsoft.com/office/drawing/2014/main" id="{6AAFABD7-1DAC-CE6C-1238-6A4BEB9540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7">
              <a:extLst>
                <a:ext uri="{FF2B5EF4-FFF2-40B4-BE49-F238E27FC236}">
                  <a16:creationId xmlns:a16="http://schemas.microsoft.com/office/drawing/2014/main" id="{EA98665C-AAE1-A629-A099-CF613A42D87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7">
            <a:extLst>
              <a:ext uri="{FF2B5EF4-FFF2-40B4-BE49-F238E27FC236}">
                <a16:creationId xmlns:a16="http://schemas.microsoft.com/office/drawing/2014/main" id="{248E0FBF-F811-B641-9F58-230F7DC07065}"/>
              </a:ext>
            </a:extLst>
          </p:cNvPr>
          <p:cNvGrpSpPr/>
          <p:nvPr/>
        </p:nvGrpSpPr>
        <p:grpSpPr>
          <a:xfrm>
            <a:off x="4046315" y="1272472"/>
            <a:ext cx="145206" cy="145206"/>
            <a:chOff x="0" y="0"/>
            <a:chExt cx="812800" cy="812800"/>
          </a:xfrm>
        </p:grpSpPr>
        <p:sp>
          <p:nvSpPr>
            <p:cNvPr id="239" name="Google Shape;239;p17">
              <a:extLst>
                <a:ext uri="{FF2B5EF4-FFF2-40B4-BE49-F238E27FC236}">
                  <a16:creationId xmlns:a16="http://schemas.microsoft.com/office/drawing/2014/main" id="{32E2AF07-B8C2-ADDB-80D5-E3088F2CCE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7">
              <a:extLst>
                <a:ext uri="{FF2B5EF4-FFF2-40B4-BE49-F238E27FC236}">
                  <a16:creationId xmlns:a16="http://schemas.microsoft.com/office/drawing/2014/main" id="{09187650-EF4B-63A7-2482-9DDE595DF0BC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7">
            <a:extLst>
              <a:ext uri="{FF2B5EF4-FFF2-40B4-BE49-F238E27FC236}">
                <a16:creationId xmlns:a16="http://schemas.microsoft.com/office/drawing/2014/main" id="{C5E261FC-B19C-AA94-EDF2-888F18F153F0}"/>
              </a:ext>
            </a:extLst>
          </p:cNvPr>
          <p:cNvGrpSpPr/>
          <p:nvPr/>
        </p:nvGrpSpPr>
        <p:grpSpPr>
          <a:xfrm>
            <a:off x="16870322" y="956097"/>
            <a:ext cx="388978" cy="388978"/>
            <a:chOff x="0" y="0"/>
            <a:chExt cx="812800" cy="812800"/>
          </a:xfrm>
        </p:grpSpPr>
        <p:sp>
          <p:nvSpPr>
            <p:cNvPr id="242" name="Google Shape;242;p17">
              <a:extLst>
                <a:ext uri="{FF2B5EF4-FFF2-40B4-BE49-F238E27FC236}">
                  <a16:creationId xmlns:a16="http://schemas.microsoft.com/office/drawing/2014/main" id="{3E3E6B87-59A4-D7B7-3265-8D5539CAF5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7">
              <a:extLst>
                <a:ext uri="{FF2B5EF4-FFF2-40B4-BE49-F238E27FC236}">
                  <a16:creationId xmlns:a16="http://schemas.microsoft.com/office/drawing/2014/main" id="{8DD46A81-6536-9E06-3E70-71C63471C55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F86329-B747-07D5-D9CE-FC979DAC8D4C}"/>
              </a:ext>
            </a:extLst>
          </p:cNvPr>
          <p:cNvSpPr txBox="1"/>
          <p:nvPr/>
        </p:nvSpPr>
        <p:spPr>
          <a:xfrm>
            <a:off x="2991324" y="2308490"/>
            <a:ext cx="7286517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Description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Learning Agent uses </a:t>
            </a:r>
            <a:r>
              <a:rPr lang="en-US" sz="28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Q-Learning</a:t>
            </a:r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, a reinforcement learning technique, to learn optimal moves by playing many games against itself.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It improves over time by updating a Q-table based on rewards and penalties.</a:t>
            </a:r>
          </a:p>
          <a:p>
            <a:endParaRPr lang="ar-SA" sz="2800" dirty="0">
              <a:latin typeface="Aptos Slab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86F2B-7D1C-6091-F3A0-9746B9E9D820}"/>
              </a:ext>
            </a:extLst>
          </p:cNvPr>
          <p:cNvSpPr txBox="1"/>
          <p:nvPr/>
        </p:nvSpPr>
        <p:spPr>
          <a:xfrm>
            <a:off x="3089429" y="6004600"/>
            <a:ext cx="5699464" cy="298543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Advantages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Learns automatically (no manual rules)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Improves with experience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Adapts to opponent strategies</a:t>
            </a:r>
          </a:p>
          <a:p>
            <a:endParaRPr lang="ar-SA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2BD7F-5CA5-426B-CBE5-5F63A1B336C4}"/>
              </a:ext>
            </a:extLst>
          </p:cNvPr>
          <p:cNvSpPr txBox="1"/>
          <p:nvPr/>
        </p:nvSpPr>
        <p:spPr>
          <a:xfrm>
            <a:off x="10197420" y="2308490"/>
            <a:ext cx="5436157" cy="31584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The mechanism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agent learns:</a:t>
            </a:r>
          </a:p>
          <a:p>
            <a:r>
              <a:rPr lang="en-US" sz="2000" dirty="0">
                <a:solidFill>
                  <a:schemeClr val="bg1"/>
                </a:solidFill>
                <a:latin typeface="Aptos Slab Black" panose="020B0004020202020204" pitchFamily="34" charset="0"/>
              </a:rPr>
              <a:t>Good moves = high reward</a:t>
            </a:r>
            <a:br>
              <a:rPr lang="en-US" sz="2000" dirty="0">
                <a:solidFill>
                  <a:schemeClr val="bg1"/>
                </a:solidFill>
                <a:latin typeface="Aptos Slab Black" panose="020B000402020202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ptos Slab Black" panose="020B0004020202020204" pitchFamily="34" charset="0"/>
              </a:rPr>
              <a:t>Bad moves = low reward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It stores knowledge in a </a:t>
            </a:r>
            <a:r>
              <a:rPr lang="en-US" sz="28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Q-table</a:t>
            </a:r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:</a:t>
            </a:r>
          </a:p>
          <a:p>
            <a:r>
              <a:rPr lang="en-US" sz="2000" dirty="0">
                <a:solidFill>
                  <a:schemeClr val="bg1"/>
                </a:solidFill>
                <a:latin typeface="Aptos Slab Black" panose="020B0004020202020204" pitchFamily="34" charset="0"/>
              </a:rPr>
              <a:t>(State, Action) → Value (Q-value)</a:t>
            </a: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BFAB8-11E8-86F9-3D7D-0AFA98644EAC}"/>
              </a:ext>
            </a:extLst>
          </p:cNvPr>
          <p:cNvSpPr txBox="1"/>
          <p:nvPr/>
        </p:nvSpPr>
        <p:spPr>
          <a:xfrm>
            <a:off x="10197420" y="6004600"/>
            <a:ext cx="5063295" cy="28931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Limitations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Needs large training time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Requires many games to learn well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Memory intensive (Q-table grows large)</a:t>
            </a: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92709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/>
        </p:nvSpPr>
        <p:spPr>
          <a:xfrm>
            <a:off x="1028700" y="771644"/>
            <a:ext cx="9952978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8000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T</a:t>
            </a:r>
            <a:r>
              <a:rPr lang="en-US" sz="8000" b="0" i="0" u="none" strike="noStrike" cap="none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ournament system</a:t>
            </a:r>
            <a:endParaRPr dirty="0"/>
          </a:p>
        </p:txBody>
      </p:sp>
      <p:sp>
        <p:nvSpPr>
          <p:cNvPr id="365" name="Google Shape;365;p21"/>
          <p:cNvSpPr/>
          <p:nvPr/>
        </p:nvSpPr>
        <p:spPr>
          <a:xfrm rot="-4378977">
            <a:off x="15299570" y="7471919"/>
            <a:ext cx="4225454" cy="4549614"/>
          </a:xfrm>
          <a:custGeom>
            <a:avLst/>
            <a:gdLst/>
            <a:ahLst/>
            <a:cxnLst/>
            <a:rect l="l" t="t" r="r" b="b"/>
            <a:pathLst>
              <a:path w="4225454" h="4549614" extrusionOk="0">
                <a:moveTo>
                  <a:pt x="0" y="0"/>
                </a:moveTo>
                <a:lnTo>
                  <a:pt x="4225455" y="0"/>
                </a:lnTo>
                <a:lnTo>
                  <a:pt x="4225455" y="4549614"/>
                </a:lnTo>
                <a:lnTo>
                  <a:pt x="0" y="4549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366" name="Google Shape;366;p21"/>
          <p:cNvSpPr/>
          <p:nvPr/>
        </p:nvSpPr>
        <p:spPr>
          <a:xfrm rot="-1616514">
            <a:off x="-2637843" y="7326178"/>
            <a:ext cx="4987264" cy="5369867"/>
          </a:xfrm>
          <a:custGeom>
            <a:avLst/>
            <a:gdLst/>
            <a:ahLst/>
            <a:cxnLst/>
            <a:rect l="l" t="t" r="r" b="b"/>
            <a:pathLst>
              <a:path w="4987264" h="5369867" extrusionOk="0">
                <a:moveTo>
                  <a:pt x="0" y="0"/>
                </a:moveTo>
                <a:lnTo>
                  <a:pt x="4987265" y="0"/>
                </a:lnTo>
                <a:lnTo>
                  <a:pt x="4987265" y="5369868"/>
                </a:lnTo>
                <a:lnTo>
                  <a:pt x="0" y="5369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367" name="Google Shape;367;p21"/>
          <p:cNvSpPr/>
          <p:nvPr/>
        </p:nvSpPr>
        <p:spPr>
          <a:xfrm rot="8161676">
            <a:off x="9099465" y="-3002079"/>
            <a:ext cx="4987264" cy="5369867"/>
          </a:xfrm>
          <a:custGeom>
            <a:avLst/>
            <a:gdLst/>
            <a:ahLst/>
            <a:cxnLst/>
            <a:rect l="l" t="t" r="r" b="b"/>
            <a:pathLst>
              <a:path w="4987264" h="5369867" extrusionOk="0">
                <a:moveTo>
                  <a:pt x="0" y="0"/>
                </a:moveTo>
                <a:lnTo>
                  <a:pt x="4987264" y="0"/>
                </a:lnTo>
                <a:lnTo>
                  <a:pt x="4987264" y="5369867"/>
                </a:lnTo>
                <a:lnTo>
                  <a:pt x="0" y="5369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372" name="Google Shape;372;p21"/>
          <p:cNvGrpSpPr/>
          <p:nvPr/>
        </p:nvGrpSpPr>
        <p:grpSpPr>
          <a:xfrm>
            <a:off x="16758127" y="9063811"/>
            <a:ext cx="388978" cy="388978"/>
            <a:chOff x="0" y="0"/>
            <a:chExt cx="812800" cy="812800"/>
          </a:xfrm>
        </p:grpSpPr>
        <p:sp>
          <p:nvSpPr>
            <p:cNvPr id="373" name="Google Shape;373;p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00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21"/>
          <p:cNvGrpSpPr/>
          <p:nvPr/>
        </p:nvGrpSpPr>
        <p:grpSpPr>
          <a:xfrm>
            <a:off x="4070236" y="9357748"/>
            <a:ext cx="388978" cy="388978"/>
            <a:chOff x="0" y="0"/>
            <a:chExt cx="812800" cy="812800"/>
          </a:xfrm>
        </p:grpSpPr>
        <p:sp>
          <p:nvSpPr>
            <p:cNvPr id="376" name="Google Shape;376;p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ADF5ABE-2AAA-D968-EB08-7EB999925163}"/>
              </a:ext>
            </a:extLst>
          </p:cNvPr>
          <p:cNvSpPr txBox="1"/>
          <p:nvPr/>
        </p:nvSpPr>
        <p:spPr>
          <a:xfrm>
            <a:off x="1028701" y="3515291"/>
            <a:ext cx="15173048" cy="61247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rgbClr val="EC008A"/>
                </a:solidFill>
                <a:latin typeface="Aptos Slab Black" panose="020B0004020202020204" pitchFamily="34" charset="0"/>
              </a:rPr>
              <a:t>Purpose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tournament system was designed to evaluate and compare the performance of different AI agents.</a:t>
            </a:r>
          </a:p>
          <a:p>
            <a:endParaRPr lang="en-US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Agents play multiple matches against each other under the same conditions.</a:t>
            </a:r>
          </a:p>
          <a:p>
            <a:endParaRPr lang="en-US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After all games: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Total wins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Draws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Win percentages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Final ELO ratings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are displayed and analyzed.</a:t>
            </a:r>
          </a:p>
          <a:p>
            <a:endParaRPr lang="en-US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/>
          <p:nvPr/>
        </p:nvSpPr>
        <p:spPr>
          <a:xfrm rot="-10319540">
            <a:off x="8731931" y="3322105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59" name="Google Shape;459;p25"/>
          <p:cNvSpPr/>
          <p:nvPr/>
        </p:nvSpPr>
        <p:spPr>
          <a:xfrm>
            <a:off x="-1872061" y="-4388813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0" name="Google Shape;460;p25"/>
          <p:cNvSpPr txBox="1"/>
          <p:nvPr/>
        </p:nvSpPr>
        <p:spPr>
          <a:xfrm>
            <a:off x="7042742" y="3532580"/>
            <a:ext cx="875113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dirty="0">
                <a:solidFill>
                  <a:srgbClr val="FFD33B"/>
                </a:solidFill>
                <a:latin typeface="Black Ops One"/>
                <a:sym typeface="Black Ops One"/>
              </a:rPr>
              <a:t>GUI</a:t>
            </a:r>
            <a:endParaRPr dirty="0"/>
          </a:p>
        </p:txBody>
      </p:sp>
      <p:sp>
        <p:nvSpPr>
          <p:cNvPr id="462" name="Google Shape;462;p25"/>
          <p:cNvSpPr/>
          <p:nvPr/>
        </p:nvSpPr>
        <p:spPr>
          <a:xfrm>
            <a:off x="11173469" y="7882899"/>
            <a:ext cx="1375401" cy="1375401"/>
          </a:xfrm>
          <a:custGeom>
            <a:avLst/>
            <a:gdLst/>
            <a:ahLst/>
            <a:cxnLst/>
            <a:rect l="l" t="t" r="r" b="b"/>
            <a:pathLst>
              <a:path w="1375401" h="1375401" extrusionOk="0">
                <a:moveTo>
                  <a:pt x="0" y="0"/>
                </a:moveTo>
                <a:lnTo>
                  <a:pt x="1375401" y="0"/>
                </a:lnTo>
                <a:lnTo>
                  <a:pt x="1375401" y="1375401"/>
                </a:lnTo>
                <a:lnTo>
                  <a:pt x="0" y="1375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3" name="Google Shape;463;p25"/>
          <p:cNvSpPr/>
          <p:nvPr/>
        </p:nvSpPr>
        <p:spPr>
          <a:xfrm>
            <a:off x="8058545" y="1393607"/>
            <a:ext cx="1375401" cy="1375401"/>
          </a:xfrm>
          <a:custGeom>
            <a:avLst/>
            <a:gdLst/>
            <a:ahLst/>
            <a:cxnLst/>
            <a:rect l="l" t="t" r="r" b="b"/>
            <a:pathLst>
              <a:path w="1375401" h="1375401" extrusionOk="0">
                <a:moveTo>
                  <a:pt x="0" y="0"/>
                </a:moveTo>
                <a:lnTo>
                  <a:pt x="1375401" y="0"/>
                </a:lnTo>
                <a:lnTo>
                  <a:pt x="1375401" y="1375401"/>
                </a:lnTo>
                <a:lnTo>
                  <a:pt x="0" y="1375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4" name="Google Shape;464;p25"/>
          <p:cNvSpPr/>
          <p:nvPr/>
        </p:nvSpPr>
        <p:spPr>
          <a:xfrm rot="2286593">
            <a:off x="13420920" y="1643481"/>
            <a:ext cx="2687975" cy="2881844"/>
          </a:xfrm>
          <a:custGeom>
            <a:avLst/>
            <a:gdLst/>
            <a:ahLst/>
            <a:cxnLst/>
            <a:rect l="l" t="t" r="r" b="b"/>
            <a:pathLst>
              <a:path w="2687975" h="2881844" extrusionOk="0">
                <a:moveTo>
                  <a:pt x="0" y="0"/>
                </a:moveTo>
                <a:lnTo>
                  <a:pt x="2687975" y="0"/>
                </a:lnTo>
                <a:lnTo>
                  <a:pt x="2687975" y="2881844"/>
                </a:lnTo>
                <a:lnTo>
                  <a:pt x="0" y="2881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5" name="Google Shape;465;p25"/>
          <p:cNvSpPr/>
          <p:nvPr/>
        </p:nvSpPr>
        <p:spPr>
          <a:xfrm rot="-1473762">
            <a:off x="13972099" y="7334118"/>
            <a:ext cx="4292632" cy="1969245"/>
          </a:xfrm>
          <a:custGeom>
            <a:avLst/>
            <a:gdLst/>
            <a:ahLst/>
            <a:cxnLst/>
            <a:rect l="l" t="t" r="r" b="b"/>
            <a:pathLst>
              <a:path w="4292632" h="1969245" extrusionOk="0">
                <a:moveTo>
                  <a:pt x="0" y="0"/>
                </a:moveTo>
                <a:lnTo>
                  <a:pt x="4292633" y="0"/>
                </a:lnTo>
                <a:lnTo>
                  <a:pt x="4292633" y="1969245"/>
                </a:lnTo>
                <a:lnTo>
                  <a:pt x="0" y="1969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6" name="Google Shape;466;p25"/>
          <p:cNvSpPr/>
          <p:nvPr/>
        </p:nvSpPr>
        <p:spPr>
          <a:xfrm>
            <a:off x="1387491" y="7173157"/>
            <a:ext cx="1559895" cy="1559568"/>
          </a:xfrm>
          <a:custGeom>
            <a:avLst/>
            <a:gdLst/>
            <a:ahLst/>
            <a:cxnLst/>
            <a:rect l="l" t="t" r="r" b="b"/>
            <a:pathLst>
              <a:path w="3103224" h="3103224" extrusionOk="0">
                <a:moveTo>
                  <a:pt x="0" y="0"/>
                </a:moveTo>
                <a:lnTo>
                  <a:pt x="3103223" y="0"/>
                </a:lnTo>
                <a:lnTo>
                  <a:pt x="3103223" y="3103224"/>
                </a:lnTo>
                <a:lnTo>
                  <a:pt x="0" y="3103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457">
          <a:extLst>
            <a:ext uri="{FF2B5EF4-FFF2-40B4-BE49-F238E27FC236}">
              <a16:creationId xmlns:a16="http://schemas.microsoft.com/office/drawing/2014/main" id="{4D88CB07-8E71-68EE-73DF-D6CA2FFA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00FBD568-D01B-D009-BBB9-187D4C2829F2}"/>
              </a:ext>
            </a:extLst>
          </p:cNvPr>
          <p:cNvSpPr/>
          <p:nvPr/>
        </p:nvSpPr>
        <p:spPr>
          <a:xfrm rot="-10319540">
            <a:off x="8652033" y="6296124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F739A30C-16D7-89E3-456D-EF140A2600E3}"/>
              </a:ext>
            </a:extLst>
          </p:cNvPr>
          <p:cNvSpPr/>
          <p:nvPr/>
        </p:nvSpPr>
        <p:spPr>
          <a:xfrm>
            <a:off x="-2999525" y="-5613931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C78616DA-A2B1-EDF5-6A2B-FDDDC052DE1A}"/>
              </a:ext>
            </a:extLst>
          </p:cNvPr>
          <p:cNvSpPr/>
          <p:nvPr/>
        </p:nvSpPr>
        <p:spPr>
          <a:xfrm rot="2286593">
            <a:off x="14867980" y="409485"/>
            <a:ext cx="2687975" cy="2881844"/>
          </a:xfrm>
          <a:custGeom>
            <a:avLst/>
            <a:gdLst/>
            <a:ahLst/>
            <a:cxnLst/>
            <a:rect l="l" t="t" r="r" b="b"/>
            <a:pathLst>
              <a:path w="2687975" h="2881844" extrusionOk="0">
                <a:moveTo>
                  <a:pt x="0" y="0"/>
                </a:moveTo>
                <a:lnTo>
                  <a:pt x="2687975" y="0"/>
                </a:lnTo>
                <a:lnTo>
                  <a:pt x="2687975" y="2881844"/>
                </a:lnTo>
                <a:lnTo>
                  <a:pt x="0" y="2881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E47B6D99-039C-9BB4-6120-17262C8EFDAD}"/>
              </a:ext>
            </a:extLst>
          </p:cNvPr>
          <p:cNvSpPr/>
          <p:nvPr/>
        </p:nvSpPr>
        <p:spPr>
          <a:xfrm>
            <a:off x="925852" y="7991695"/>
            <a:ext cx="1249177" cy="1266605"/>
          </a:xfrm>
          <a:custGeom>
            <a:avLst/>
            <a:gdLst/>
            <a:ahLst/>
            <a:cxnLst/>
            <a:rect l="l" t="t" r="r" b="b"/>
            <a:pathLst>
              <a:path w="3103224" h="3103224" extrusionOk="0">
                <a:moveTo>
                  <a:pt x="0" y="0"/>
                </a:moveTo>
                <a:lnTo>
                  <a:pt x="3103223" y="0"/>
                </a:lnTo>
                <a:lnTo>
                  <a:pt x="3103223" y="3103224"/>
                </a:lnTo>
                <a:lnTo>
                  <a:pt x="0" y="3103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pic>
        <p:nvPicPr>
          <p:cNvPr id="3" name="gui.">
            <a:hlinkClick r:id="" action="ppaction://media"/>
            <a:extLst>
              <a:ext uri="{FF2B5EF4-FFF2-40B4-BE49-F238E27FC236}">
                <a16:creationId xmlns:a16="http://schemas.microsoft.com/office/drawing/2014/main" id="{5BAC3630-E219-9112-5607-82F6798FFF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932807" y="2032986"/>
            <a:ext cx="10138299" cy="553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7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28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457">
          <a:extLst>
            <a:ext uri="{FF2B5EF4-FFF2-40B4-BE49-F238E27FC236}">
              <a16:creationId xmlns:a16="http://schemas.microsoft.com/office/drawing/2014/main" id="{67E66FBE-DE70-C7FE-6EDE-18CD7DC1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81ECB787-2CE4-CC2A-BCA5-482858C121B6}"/>
              </a:ext>
            </a:extLst>
          </p:cNvPr>
          <p:cNvSpPr/>
          <p:nvPr/>
        </p:nvSpPr>
        <p:spPr>
          <a:xfrm rot="-10319540">
            <a:off x="8652033" y="6296124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E517C6CE-AC8D-28E3-9E34-3675B1CBC21E}"/>
              </a:ext>
            </a:extLst>
          </p:cNvPr>
          <p:cNvSpPr/>
          <p:nvPr/>
        </p:nvSpPr>
        <p:spPr>
          <a:xfrm>
            <a:off x="-2999525" y="-5613931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606C58CE-0579-7DD9-B44F-CBF19A4F33CE}"/>
              </a:ext>
            </a:extLst>
          </p:cNvPr>
          <p:cNvSpPr/>
          <p:nvPr/>
        </p:nvSpPr>
        <p:spPr>
          <a:xfrm rot="2286593">
            <a:off x="14867980" y="409485"/>
            <a:ext cx="2687975" cy="2881844"/>
          </a:xfrm>
          <a:custGeom>
            <a:avLst/>
            <a:gdLst/>
            <a:ahLst/>
            <a:cxnLst/>
            <a:rect l="l" t="t" r="r" b="b"/>
            <a:pathLst>
              <a:path w="2687975" h="2881844" extrusionOk="0">
                <a:moveTo>
                  <a:pt x="0" y="0"/>
                </a:moveTo>
                <a:lnTo>
                  <a:pt x="2687975" y="0"/>
                </a:lnTo>
                <a:lnTo>
                  <a:pt x="2687975" y="2881844"/>
                </a:lnTo>
                <a:lnTo>
                  <a:pt x="0" y="2881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C7AA843E-07FD-F767-D0ED-DB58E0AE0F79}"/>
              </a:ext>
            </a:extLst>
          </p:cNvPr>
          <p:cNvSpPr/>
          <p:nvPr/>
        </p:nvSpPr>
        <p:spPr>
          <a:xfrm>
            <a:off x="925852" y="7991695"/>
            <a:ext cx="1249177" cy="1266605"/>
          </a:xfrm>
          <a:custGeom>
            <a:avLst/>
            <a:gdLst/>
            <a:ahLst/>
            <a:cxnLst/>
            <a:rect l="l" t="t" r="r" b="b"/>
            <a:pathLst>
              <a:path w="3103224" h="3103224" extrusionOk="0">
                <a:moveTo>
                  <a:pt x="0" y="0"/>
                </a:moveTo>
                <a:lnTo>
                  <a:pt x="3103223" y="0"/>
                </a:lnTo>
                <a:lnTo>
                  <a:pt x="3103223" y="3103224"/>
                </a:lnTo>
                <a:lnTo>
                  <a:pt x="0" y="3103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DFD5F-1F33-D510-AC87-132BB6CB9D39}"/>
              </a:ext>
            </a:extLst>
          </p:cNvPr>
          <p:cNvSpPr txBox="1"/>
          <p:nvPr/>
        </p:nvSpPr>
        <p:spPr>
          <a:xfrm>
            <a:off x="6710903" y="280747"/>
            <a:ext cx="5211192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7200" dirty="0">
                <a:solidFill>
                  <a:srgbClr val="FFD33B"/>
                </a:solidFill>
                <a:latin typeface="Black Ops One"/>
                <a:sym typeface="Black Ops One"/>
              </a:rPr>
              <a:t>Results</a:t>
            </a:r>
            <a:r>
              <a:rPr lang="en-US" sz="72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endParaRPr lang="ar-SA" sz="72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270CD-5EFD-879D-129C-48B755B1DD87}"/>
              </a:ext>
            </a:extLst>
          </p:cNvPr>
          <p:cNvSpPr txBox="1"/>
          <p:nvPr/>
        </p:nvSpPr>
        <p:spPr>
          <a:xfrm>
            <a:off x="3927753" y="3251156"/>
            <a:ext cx="10777492" cy="28931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The results indicate that the Minimax and Rule-Based agents perform at a relatively similar level in direct competition, while the Q-Learning agent shows weaker performance in its current training state. This suggests that the Q-Learning model may require additional training episodes or parameter tuning to achieve stronger generalization.</a:t>
            </a: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44289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457">
          <a:extLst>
            <a:ext uri="{FF2B5EF4-FFF2-40B4-BE49-F238E27FC236}">
              <a16:creationId xmlns:a16="http://schemas.microsoft.com/office/drawing/2014/main" id="{35D9971A-9662-33D0-E89C-62B933A2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51E99D6A-3A7E-5D70-349D-9EF2BD1BD82D}"/>
              </a:ext>
            </a:extLst>
          </p:cNvPr>
          <p:cNvSpPr/>
          <p:nvPr/>
        </p:nvSpPr>
        <p:spPr>
          <a:xfrm rot="-10319540">
            <a:off x="8652033" y="6296124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0823C1AE-2088-AB42-1410-B614C816218E}"/>
              </a:ext>
            </a:extLst>
          </p:cNvPr>
          <p:cNvSpPr/>
          <p:nvPr/>
        </p:nvSpPr>
        <p:spPr>
          <a:xfrm>
            <a:off x="-3567697" y="-5327405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C4C7F0A4-DFCD-E56C-9559-91CC80CA3042}"/>
              </a:ext>
            </a:extLst>
          </p:cNvPr>
          <p:cNvSpPr/>
          <p:nvPr/>
        </p:nvSpPr>
        <p:spPr>
          <a:xfrm rot="2286593">
            <a:off x="14867980" y="409485"/>
            <a:ext cx="2687975" cy="2881844"/>
          </a:xfrm>
          <a:custGeom>
            <a:avLst/>
            <a:gdLst/>
            <a:ahLst/>
            <a:cxnLst/>
            <a:rect l="l" t="t" r="r" b="b"/>
            <a:pathLst>
              <a:path w="2687975" h="2881844" extrusionOk="0">
                <a:moveTo>
                  <a:pt x="0" y="0"/>
                </a:moveTo>
                <a:lnTo>
                  <a:pt x="2687975" y="0"/>
                </a:lnTo>
                <a:lnTo>
                  <a:pt x="2687975" y="2881844"/>
                </a:lnTo>
                <a:lnTo>
                  <a:pt x="0" y="2881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1C74A9B1-2E8F-B2B1-3FAD-6F341C3CABB0}"/>
              </a:ext>
            </a:extLst>
          </p:cNvPr>
          <p:cNvSpPr/>
          <p:nvPr/>
        </p:nvSpPr>
        <p:spPr>
          <a:xfrm>
            <a:off x="16790248" y="5443803"/>
            <a:ext cx="1249177" cy="1266605"/>
          </a:xfrm>
          <a:custGeom>
            <a:avLst/>
            <a:gdLst/>
            <a:ahLst/>
            <a:cxnLst/>
            <a:rect l="l" t="t" r="r" b="b"/>
            <a:pathLst>
              <a:path w="3103224" h="3103224" extrusionOk="0">
                <a:moveTo>
                  <a:pt x="0" y="0"/>
                </a:moveTo>
                <a:lnTo>
                  <a:pt x="3103223" y="0"/>
                </a:lnTo>
                <a:lnTo>
                  <a:pt x="3103223" y="3103224"/>
                </a:lnTo>
                <a:lnTo>
                  <a:pt x="0" y="3103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A42BDC-A4D3-C13F-EC29-1217D11BE2F4}"/>
              </a:ext>
            </a:extLst>
          </p:cNvPr>
          <p:cNvSpPr txBox="1"/>
          <p:nvPr/>
        </p:nvSpPr>
        <p:spPr>
          <a:xfrm>
            <a:off x="5738137" y="125104"/>
            <a:ext cx="7773582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9600" dirty="0">
                <a:solidFill>
                  <a:srgbClr val="FFD33B"/>
                </a:solidFill>
                <a:latin typeface="Black Ops One"/>
                <a:sym typeface="Black Ops One"/>
              </a:rPr>
              <a:t>Conclusion</a:t>
            </a:r>
            <a:endParaRPr lang="ar-SA" sz="60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14215-6244-6D9C-F508-51BFC8D160EA}"/>
              </a:ext>
            </a:extLst>
          </p:cNvPr>
          <p:cNvSpPr txBox="1"/>
          <p:nvPr/>
        </p:nvSpPr>
        <p:spPr>
          <a:xfrm>
            <a:off x="3144008" y="2190943"/>
            <a:ext cx="11504148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This project demonstrates how AI can evolve from simple rule-based systems to advanced learning-based decision making in game environments.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94B393-B73C-40F8-CA90-DE845B068D09}"/>
              </a:ext>
            </a:extLst>
          </p:cNvPr>
          <p:cNvSpPr txBox="1"/>
          <p:nvPr/>
        </p:nvSpPr>
        <p:spPr>
          <a:xfrm>
            <a:off x="3144008" y="4109989"/>
            <a:ext cx="9934113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We successfully built a 5*5 board game environment with a complete AI system.</a:t>
            </a:r>
          </a:p>
          <a:p>
            <a:endParaRPr lang="en-US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Three different AI approaches were implemented: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 Rule-Based Agent (heuristic-based decisions)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 Minimax Agent (optimal adversarial search) </a:t>
            </a:r>
          </a:p>
          <a:p>
            <a:r>
              <a:rPr lang="en-US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 Learning Agent (experience-based improvement)</a:t>
            </a:r>
          </a:p>
          <a:p>
            <a:endParaRPr 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45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"/>
          <p:cNvSpPr/>
          <p:nvPr/>
        </p:nvSpPr>
        <p:spPr>
          <a:xfrm rot="573640">
            <a:off x="-5154151" y="-4185882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 dirty="0"/>
          </a:p>
        </p:txBody>
      </p:sp>
      <p:sp>
        <p:nvSpPr>
          <p:cNvPr id="396" name="Google Shape;396;p23"/>
          <p:cNvSpPr/>
          <p:nvPr/>
        </p:nvSpPr>
        <p:spPr>
          <a:xfrm rot="10451325">
            <a:off x="12824781" y="397037"/>
            <a:ext cx="12952275" cy="12417994"/>
          </a:xfrm>
          <a:custGeom>
            <a:avLst/>
            <a:gdLst/>
            <a:ahLst/>
            <a:cxnLst/>
            <a:rect l="l" t="t" r="r" b="b"/>
            <a:pathLst>
              <a:path w="12952275" h="12417994" extrusionOk="0">
                <a:moveTo>
                  <a:pt x="0" y="0"/>
                </a:moveTo>
                <a:lnTo>
                  <a:pt x="12952275" y="0"/>
                </a:lnTo>
                <a:lnTo>
                  <a:pt x="12952275" y="12417994"/>
                </a:lnTo>
                <a:lnTo>
                  <a:pt x="0" y="12417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400" name="Google Shape;400;p23"/>
          <p:cNvSpPr txBox="1"/>
          <p:nvPr/>
        </p:nvSpPr>
        <p:spPr>
          <a:xfrm>
            <a:off x="3101062" y="1048800"/>
            <a:ext cx="1232832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Future </a:t>
            </a:r>
            <a:r>
              <a:rPr lang="en-US" sz="8000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improvements</a:t>
            </a:r>
            <a:endParaRPr lang="en-US" dirty="0"/>
          </a:p>
        </p:txBody>
      </p:sp>
      <p:grpSp>
        <p:nvGrpSpPr>
          <p:cNvPr id="402" name="Google Shape;402;p23"/>
          <p:cNvGrpSpPr/>
          <p:nvPr/>
        </p:nvGrpSpPr>
        <p:grpSpPr>
          <a:xfrm>
            <a:off x="17485489" y="5143500"/>
            <a:ext cx="388978" cy="388978"/>
            <a:chOff x="0" y="0"/>
            <a:chExt cx="812800" cy="812800"/>
          </a:xfrm>
        </p:grpSpPr>
        <p:sp>
          <p:nvSpPr>
            <p:cNvPr id="403" name="Google Shape;403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21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23"/>
          <p:cNvGrpSpPr/>
          <p:nvPr/>
        </p:nvGrpSpPr>
        <p:grpSpPr>
          <a:xfrm>
            <a:off x="834211" y="639722"/>
            <a:ext cx="388978" cy="388978"/>
            <a:chOff x="0" y="0"/>
            <a:chExt cx="812800" cy="812800"/>
          </a:xfrm>
        </p:grpSpPr>
        <p:sp>
          <p:nvSpPr>
            <p:cNvPr id="406" name="Google Shape;406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23"/>
          <p:cNvGrpSpPr/>
          <p:nvPr/>
        </p:nvGrpSpPr>
        <p:grpSpPr>
          <a:xfrm>
            <a:off x="6514280" y="9258300"/>
            <a:ext cx="388978" cy="388978"/>
            <a:chOff x="0" y="0"/>
            <a:chExt cx="812800" cy="812800"/>
          </a:xfrm>
        </p:grpSpPr>
        <p:sp>
          <p:nvSpPr>
            <p:cNvPr id="409" name="Google Shape;409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CA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23"/>
          <p:cNvGrpSpPr/>
          <p:nvPr/>
        </p:nvGrpSpPr>
        <p:grpSpPr>
          <a:xfrm>
            <a:off x="17874467" y="748556"/>
            <a:ext cx="388978" cy="388978"/>
            <a:chOff x="0" y="0"/>
            <a:chExt cx="812800" cy="812800"/>
          </a:xfrm>
        </p:grpSpPr>
        <p:sp>
          <p:nvSpPr>
            <p:cNvPr id="412" name="Google Shape;412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B3D9E15-889D-F872-F82F-3E1ABAE8E1C7}"/>
              </a:ext>
            </a:extLst>
          </p:cNvPr>
          <p:cNvSpPr txBox="1"/>
          <p:nvPr/>
        </p:nvSpPr>
        <p:spPr>
          <a:xfrm>
            <a:off x="3731412" y="2681705"/>
            <a:ext cx="11760122" cy="418576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ar-SA" altLang="ar-SA" sz="28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Improve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Q-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Learning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training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performance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Implement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Deep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Q-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Learning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(DQN)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Enhance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Minimax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optimization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techniques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Add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more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advanced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heuristics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and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strategies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Improve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GUI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design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and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user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experience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Add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difficulty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levels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and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agent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selection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Support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online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multiplayer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gameplay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Expand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evaluation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metrics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and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  <a:r>
              <a:rPr lang="ar-SA" altLang="ar-SA" sz="2800" dirty="0" err="1">
                <a:solidFill>
                  <a:schemeClr val="bg1"/>
                </a:solidFill>
                <a:latin typeface="Aptos Slab Black" panose="020B0004020202020204" pitchFamily="34" charset="0"/>
              </a:rPr>
              <a:t>analytics</a:t>
            </a:r>
            <a:r>
              <a:rPr lang="ar-SA" altLang="ar-SA" sz="2800" dirty="0">
                <a:solidFill>
                  <a:schemeClr val="bg1"/>
                </a:solidFill>
                <a:latin typeface="Aptos Slab Black" panose="020B0004020202020204" pitchFamily="34" charset="0"/>
              </a:rPr>
              <a:t> </a:t>
            </a:r>
          </a:p>
          <a:p>
            <a:endParaRPr lang="ar-S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BDC6DFA-1985-F941-B0D0-9BE8ABBA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0"/>
          <p:cNvSpPr/>
          <p:nvPr/>
        </p:nvSpPr>
        <p:spPr>
          <a:xfrm>
            <a:off x="-3910071" y="-2922472"/>
            <a:ext cx="9877542" cy="9470094"/>
          </a:xfrm>
          <a:custGeom>
            <a:avLst/>
            <a:gdLst/>
            <a:ahLst/>
            <a:cxnLst/>
            <a:rect l="l" t="t" r="r" b="b"/>
            <a:pathLst>
              <a:path w="9877542" h="9470094" extrusionOk="0">
                <a:moveTo>
                  <a:pt x="0" y="0"/>
                </a:moveTo>
                <a:lnTo>
                  <a:pt x="9877542" y="0"/>
                </a:lnTo>
                <a:lnTo>
                  <a:pt x="9877542" y="9470093"/>
                </a:lnTo>
                <a:lnTo>
                  <a:pt x="0" y="9470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549" name="Google Shape;549;p30"/>
          <p:cNvSpPr/>
          <p:nvPr/>
        </p:nvSpPr>
        <p:spPr>
          <a:xfrm rot="10800000">
            <a:off x="9528089" y="1431473"/>
            <a:ext cx="9877542" cy="9470094"/>
          </a:xfrm>
          <a:custGeom>
            <a:avLst/>
            <a:gdLst/>
            <a:ahLst/>
            <a:cxnLst/>
            <a:rect l="l" t="t" r="r" b="b"/>
            <a:pathLst>
              <a:path w="9877542" h="9470094" extrusionOk="0">
                <a:moveTo>
                  <a:pt x="0" y="0"/>
                </a:moveTo>
                <a:lnTo>
                  <a:pt x="9877542" y="0"/>
                </a:lnTo>
                <a:lnTo>
                  <a:pt x="9877542" y="9470094"/>
                </a:lnTo>
                <a:lnTo>
                  <a:pt x="0" y="947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550" name="Google Shape;550;p30"/>
          <p:cNvSpPr txBox="1"/>
          <p:nvPr/>
        </p:nvSpPr>
        <p:spPr>
          <a:xfrm>
            <a:off x="1101178" y="4252436"/>
            <a:ext cx="10829854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Scan and </a:t>
            </a:r>
            <a:r>
              <a:rPr lang="en-US" sz="8000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access all the files</a:t>
            </a:r>
            <a:r>
              <a:rPr lang="en-US" sz="8000" b="0" i="0" u="none" strike="noStrike" cap="none" dirty="0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!</a:t>
            </a:r>
            <a:endParaRPr dirty="0"/>
          </a:p>
        </p:txBody>
      </p:sp>
      <p:sp>
        <p:nvSpPr>
          <p:cNvPr id="553" name="Google Shape;553;p30"/>
          <p:cNvSpPr/>
          <p:nvPr/>
        </p:nvSpPr>
        <p:spPr>
          <a:xfrm>
            <a:off x="10804124" y="2976042"/>
            <a:ext cx="5875340" cy="4821615"/>
          </a:xfrm>
          <a:custGeom>
            <a:avLst/>
            <a:gdLst/>
            <a:ahLst/>
            <a:cxnLst/>
            <a:rect l="l" t="t" r="r" b="b"/>
            <a:pathLst>
              <a:path w="10692424" h="6428820" extrusionOk="0">
                <a:moveTo>
                  <a:pt x="0" y="0"/>
                </a:moveTo>
                <a:lnTo>
                  <a:pt x="10692424" y="0"/>
                </a:lnTo>
                <a:lnTo>
                  <a:pt x="10692424" y="6428820"/>
                </a:lnTo>
                <a:lnTo>
                  <a:pt x="0" y="6428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555" name="Google Shape;555;p30"/>
          <p:cNvGrpSpPr/>
          <p:nvPr/>
        </p:nvGrpSpPr>
        <p:grpSpPr>
          <a:xfrm>
            <a:off x="1779783" y="1812574"/>
            <a:ext cx="388978" cy="388978"/>
            <a:chOff x="0" y="0"/>
            <a:chExt cx="812800" cy="812800"/>
          </a:xfrm>
        </p:grpSpPr>
        <p:sp>
          <p:nvSpPr>
            <p:cNvPr id="556" name="Google Shape;556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1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" name="Google Shape;558;p30"/>
          <p:cNvGrpSpPr/>
          <p:nvPr/>
        </p:nvGrpSpPr>
        <p:grpSpPr>
          <a:xfrm>
            <a:off x="14917054" y="1236984"/>
            <a:ext cx="388978" cy="388978"/>
            <a:chOff x="0" y="0"/>
            <a:chExt cx="812800" cy="812800"/>
          </a:xfrm>
        </p:grpSpPr>
        <p:sp>
          <p:nvSpPr>
            <p:cNvPr id="559" name="Google Shape;559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C5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1" name="Google Shape;561;p30"/>
          <p:cNvGrpSpPr/>
          <p:nvPr/>
        </p:nvGrpSpPr>
        <p:grpSpPr>
          <a:xfrm>
            <a:off x="14077882" y="9258300"/>
            <a:ext cx="388978" cy="388978"/>
            <a:chOff x="0" y="0"/>
            <a:chExt cx="812800" cy="812800"/>
          </a:xfrm>
        </p:grpSpPr>
        <p:sp>
          <p:nvSpPr>
            <p:cNvPr id="562" name="Google Shape;562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" name="Google Shape;564;p30"/>
          <p:cNvGrpSpPr/>
          <p:nvPr/>
        </p:nvGrpSpPr>
        <p:grpSpPr>
          <a:xfrm>
            <a:off x="2526138" y="8182460"/>
            <a:ext cx="388978" cy="388978"/>
            <a:chOff x="0" y="0"/>
            <a:chExt cx="812800" cy="812800"/>
          </a:xfrm>
        </p:grpSpPr>
        <p:sp>
          <p:nvSpPr>
            <p:cNvPr id="565" name="Google Shape;565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3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AutoShape 2" descr="QR preview">
            <a:extLst>
              <a:ext uri="{FF2B5EF4-FFF2-40B4-BE49-F238E27FC236}">
                <a16:creationId xmlns:a16="http://schemas.microsoft.com/office/drawing/2014/main" id="{8F75D125-8384-E6ED-D59D-5EE149EDFB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SA"/>
          </a:p>
        </p:txBody>
      </p:sp>
      <p:sp>
        <p:nvSpPr>
          <p:cNvPr id="3" name="AutoShape 4" descr="QR preview">
            <a:extLst>
              <a:ext uri="{FF2B5EF4-FFF2-40B4-BE49-F238E27FC236}">
                <a16:creationId xmlns:a16="http://schemas.microsoft.com/office/drawing/2014/main" id="{655A86C1-B929-079B-5C90-1EC654FF2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93763" y="5143499"/>
            <a:ext cx="2755037" cy="275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1A11B-73BB-24FB-2CAE-0997C5AF4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1072" y="3311371"/>
            <a:ext cx="4669654" cy="38706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 rot="5335834">
            <a:off x="10102506" y="-709440"/>
            <a:ext cx="10877876" cy="10429164"/>
          </a:xfrm>
          <a:custGeom>
            <a:avLst/>
            <a:gdLst/>
            <a:ahLst/>
            <a:cxnLst/>
            <a:rect l="l" t="t" r="r" b="b"/>
            <a:pathLst>
              <a:path w="10877876" h="10429164" extrusionOk="0">
                <a:moveTo>
                  <a:pt x="0" y="0"/>
                </a:moveTo>
                <a:lnTo>
                  <a:pt x="10877876" y="0"/>
                </a:lnTo>
                <a:lnTo>
                  <a:pt x="10877876" y="10429164"/>
                </a:lnTo>
                <a:lnTo>
                  <a:pt x="0" y="10429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sp>
        <p:nvSpPr>
          <p:cNvPr id="249" name="Google Shape;249;p18"/>
          <p:cNvSpPr txBox="1"/>
          <p:nvPr/>
        </p:nvSpPr>
        <p:spPr>
          <a:xfrm>
            <a:off x="1370439" y="2772336"/>
            <a:ext cx="7896429" cy="121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FFD33B"/>
                </a:solidFill>
                <a:latin typeface="Black Ops One"/>
                <a:ea typeface="Black Ops One"/>
                <a:cs typeface="Black Ops One"/>
                <a:sym typeface="Black Ops One"/>
              </a:rPr>
              <a:t>Our Team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 rot="166902">
            <a:off x="-1600212" y="-2461826"/>
            <a:ext cx="6765456" cy="6486381"/>
          </a:xfrm>
          <a:custGeom>
            <a:avLst/>
            <a:gdLst/>
            <a:ahLst/>
            <a:cxnLst/>
            <a:rect l="l" t="t" r="r" b="b"/>
            <a:pathLst>
              <a:path w="6765456" h="6486381" extrusionOk="0">
                <a:moveTo>
                  <a:pt x="0" y="0"/>
                </a:moveTo>
                <a:lnTo>
                  <a:pt x="6765457" y="0"/>
                </a:lnTo>
                <a:lnTo>
                  <a:pt x="6765457" y="6486381"/>
                </a:lnTo>
                <a:lnTo>
                  <a:pt x="0" y="6486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51" name="Google Shape;251;p18"/>
          <p:cNvGrpSpPr/>
          <p:nvPr/>
        </p:nvGrpSpPr>
        <p:grpSpPr>
          <a:xfrm>
            <a:off x="9837279" y="9300618"/>
            <a:ext cx="388978" cy="388978"/>
            <a:chOff x="0" y="0"/>
            <a:chExt cx="812800" cy="812800"/>
          </a:xfrm>
        </p:grpSpPr>
        <p:sp>
          <p:nvSpPr>
            <p:cNvPr id="252" name="Google Shape;25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6B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8"/>
          <p:cNvSpPr/>
          <p:nvPr/>
        </p:nvSpPr>
        <p:spPr>
          <a:xfrm rot="-1759249">
            <a:off x="10701040" y="2693800"/>
            <a:ext cx="5448459" cy="3364423"/>
          </a:xfrm>
          <a:custGeom>
            <a:avLst/>
            <a:gdLst/>
            <a:ahLst/>
            <a:cxnLst/>
            <a:rect l="l" t="t" r="r" b="b"/>
            <a:pathLst>
              <a:path w="5448459" h="3364423" extrusionOk="0">
                <a:moveTo>
                  <a:pt x="0" y="0"/>
                </a:moveTo>
                <a:lnTo>
                  <a:pt x="5448458" y="0"/>
                </a:lnTo>
                <a:lnTo>
                  <a:pt x="5448458" y="3364423"/>
                </a:lnTo>
                <a:lnTo>
                  <a:pt x="0" y="3364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55" name="Google Shape;255;p18"/>
          <p:cNvGrpSpPr/>
          <p:nvPr/>
        </p:nvGrpSpPr>
        <p:grpSpPr>
          <a:xfrm>
            <a:off x="9072379" y="2083702"/>
            <a:ext cx="388978" cy="388978"/>
            <a:chOff x="0" y="0"/>
            <a:chExt cx="812800" cy="812800"/>
          </a:xfrm>
        </p:grpSpPr>
        <p:sp>
          <p:nvSpPr>
            <p:cNvPr id="256" name="Google Shape;25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6B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18"/>
          <p:cNvSpPr txBox="1"/>
          <p:nvPr/>
        </p:nvSpPr>
        <p:spPr>
          <a:xfrm>
            <a:off x="2083021" y="4752270"/>
            <a:ext cx="6989358" cy="302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cap="all" dirty="0">
                <a:solidFill>
                  <a:schemeClr val="bg1"/>
                </a:solidFill>
                <a:latin typeface="Aptos Slab Black" panose="020B0004020202020204" pitchFamily="34" charset="0"/>
              </a:rPr>
              <a:t>nada mohamed ali 240481</a:t>
            </a:r>
            <a:endParaRPr lang="en-US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000" cap="all" dirty="0">
                <a:solidFill>
                  <a:schemeClr val="bg1"/>
                </a:solidFill>
                <a:latin typeface="Aptos Slab Black" panose="020B0004020202020204" pitchFamily="34" charset="0"/>
              </a:rPr>
              <a:t>Mariam mohammed sayed 240434</a:t>
            </a:r>
            <a:endParaRPr lang="en-US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000" cap="all" dirty="0">
                <a:solidFill>
                  <a:schemeClr val="bg1"/>
                </a:solidFill>
                <a:latin typeface="Aptos Slab Black" panose="020B0004020202020204" pitchFamily="34" charset="0"/>
              </a:rPr>
              <a:t>jana amr mohamed 240120</a:t>
            </a:r>
            <a:endParaRPr lang="en-US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000" cap="all" dirty="0">
                <a:solidFill>
                  <a:schemeClr val="bg1"/>
                </a:solidFill>
                <a:latin typeface="Aptos Slab Black" panose="020B0004020202020204" pitchFamily="34" charset="0"/>
              </a:rPr>
              <a:t>mariam yasser mohammed 240435</a:t>
            </a:r>
          </a:p>
          <a:p>
            <a:r>
              <a:rPr lang="en-US" sz="2000" cap="all" dirty="0">
                <a:solidFill>
                  <a:schemeClr val="bg1"/>
                </a:solidFill>
                <a:latin typeface="Aptos Slab Black" panose="020B0004020202020204" pitchFamily="34" charset="0"/>
              </a:rPr>
              <a:t>yehia farid yehia 240500</a:t>
            </a:r>
            <a:endParaRPr lang="en-US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000" cap="all" dirty="0">
                <a:solidFill>
                  <a:schemeClr val="bg1"/>
                </a:solidFill>
                <a:latin typeface="Aptos Slab Black" panose="020B0004020202020204" pitchFamily="34" charset="0"/>
              </a:rPr>
              <a:t>youssef walid hamdi 240523</a:t>
            </a:r>
            <a:endParaRPr lang="en-US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000" cap="all" dirty="0">
                <a:solidFill>
                  <a:schemeClr val="bg1"/>
                </a:solidFill>
                <a:latin typeface="Aptos Slab Black" panose="020B0004020202020204" pitchFamily="34" charset="0"/>
              </a:rPr>
              <a:t>youssef ismail ahmed 240508</a:t>
            </a:r>
            <a:endParaRPr lang="en-US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r>
              <a:rPr lang="en-US" sz="2000" cap="all" dirty="0">
                <a:solidFill>
                  <a:schemeClr val="bg1"/>
                </a:solidFill>
                <a:latin typeface="Aptos Slab Black" panose="020B0004020202020204" pitchFamily="34" charset="0"/>
              </a:rPr>
              <a:t>youssef ayman abdelrehim 240510</a:t>
            </a:r>
            <a:endParaRPr lang="en-US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ptos Slab Black" panose="020B0004020202020204" pitchFamily="34" charset="0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Slabo 27px"/>
              <a:ea typeface="Slabo 27px"/>
              <a:cs typeface="Slabo 27px"/>
              <a:sym typeface="Slabo 27px"/>
            </a:endParaRPr>
          </a:p>
        </p:txBody>
      </p:sp>
      <p:grpSp>
        <p:nvGrpSpPr>
          <p:cNvPr id="262" name="Google Shape;262;p18"/>
          <p:cNvGrpSpPr/>
          <p:nvPr/>
        </p:nvGrpSpPr>
        <p:grpSpPr>
          <a:xfrm>
            <a:off x="1370439" y="4898747"/>
            <a:ext cx="388978" cy="388978"/>
            <a:chOff x="0" y="0"/>
            <a:chExt cx="812800" cy="812800"/>
          </a:xfrm>
        </p:grpSpPr>
        <p:sp>
          <p:nvSpPr>
            <p:cNvPr id="263" name="Google Shape;26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6B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8"/>
          <p:cNvSpPr/>
          <p:nvPr/>
        </p:nvSpPr>
        <p:spPr>
          <a:xfrm rot="-1692001">
            <a:off x="7520752" y="7095684"/>
            <a:ext cx="2487965" cy="1545648"/>
          </a:xfrm>
          <a:custGeom>
            <a:avLst/>
            <a:gdLst/>
            <a:ahLst/>
            <a:cxnLst/>
            <a:rect l="l" t="t" r="r" b="b"/>
            <a:pathLst>
              <a:path w="2487965" h="1545648" extrusionOk="0">
                <a:moveTo>
                  <a:pt x="0" y="0"/>
                </a:moveTo>
                <a:lnTo>
                  <a:pt x="2487965" y="0"/>
                </a:lnTo>
                <a:lnTo>
                  <a:pt x="2487965" y="1545648"/>
                </a:lnTo>
                <a:lnTo>
                  <a:pt x="0" y="1545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ar-SA"/>
          </a:p>
        </p:txBody>
      </p:sp>
      <p:grpSp>
        <p:nvGrpSpPr>
          <p:cNvPr id="266" name="Google Shape;266;p18"/>
          <p:cNvGrpSpPr/>
          <p:nvPr/>
        </p:nvGrpSpPr>
        <p:grpSpPr>
          <a:xfrm>
            <a:off x="1370439" y="639722"/>
            <a:ext cx="388978" cy="388978"/>
            <a:chOff x="0" y="0"/>
            <a:chExt cx="812800" cy="812800"/>
          </a:xfrm>
        </p:grpSpPr>
        <p:sp>
          <p:nvSpPr>
            <p:cNvPr id="267" name="Google Shape;26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CD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8"/>
          <p:cNvGrpSpPr/>
          <p:nvPr/>
        </p:nvGrpSpPr>
        <p:grpSpPr>
          <a:xfrm>
            <a:off x="16175565" y="1186274"/>
            <a:ext cx="897428" cy="897428"/>
            <a:chOff x="0" y="0"/>
            <a:chExt cx="812800" cy="812800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6B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18"/>
          <p:cNvGrpSpPr/>
          <p:nvPr/>
        </p:nvGrpSpPr>
        <p:grpSpPr>
          <a:xfrm>
            <a:off x="13036291" y="7875231"/>
            <a:ext cx="388978" cy="388978"/>
            <a:chOff x="0" y="0"/>
            <a:chExt cx="812800" cy="812800"/>
          </a:xfrm>
        </p:grpSpPr>
        <p:sp>
          <p:nvSpPr>
            <p:cNvPr id="273" name="Google Shape;27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9A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697</Words>
  <Application>Microsoft Office PowerPoint</Application>
  <PresentationFormat>Custom</PresentationFormat>
  <Paragraphs>135</Paragraphs>
  <Slides>17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Aptos Slab Black</vt:lpstr>
      <vt:lpstr>Slabo 27px</vt:lpstr>
      <vt:lpstr>Cambria Math</vt:lpstr>
      <vt:lpstr>Arial</vt:lpstr>
      <vt:lpstr>Black Ops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mariam mohammed sayed tammam</cp:lastModifiedBy>
  <cp:revision>6</cp:revision>
  <dcterms:modified xsi:type="dcterms:W3CDTF">2026-05-15T18:31:36Z</dcterms:modified>
</cp:coreProperties>
</file>